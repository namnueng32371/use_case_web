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92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4645152"/>
            <a:ext cx="502920" cy="548640"/>
          </a:xfrm>
          <a:prstGeom prst="rect">
            <a:avLst/>
          </a:prstGeom>
          <a:solidFill>
            <a:srgbClr val="142D46"/>
          </a:solidFill>
          <a:ln w="12700">
            <a:solidFill>
              <a:srgbClr val="14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463040" y="4370831"/>
            <a:ext cx="502920" cy="822960"/>
          </a:xfrm>
          <a:prstGeom prst="rect">
            <a:avLst/>
          </a:prstGeom>
          <a:solidFill>
            <a:srgbClr val="142D46"/>
          </a:solidFill>
          <a:ln w="12700">
            <a:solidFill>
              <a:srgbClr val="14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31720" y="4553712"/>
            <a:ext cx="502920" cy="640080"/>
          </a:xfrm>
          <a:prstGeom prst="rect">
            <a:avLst/>
          </a:prstGeom>
          <a:solidFill>
            <a:srgbClr val="142D46"/>
          </a:solidFill>
          <a:ln w="12700">
            <a:solidFill>
              <a:srgbClr val="14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71800" y="4233672"/>
            <a:ext cx="502920" cy="960120"/>
          </a:xfrm>
          <a:prstGeom prst="rect">
            <a:avLst/>
          </a:prstGeom>
          <a:solidFill>
            <a:srgbClr val="142D46"/>
          </a:solidFill>
          <a:ln w="12700">
            <a:solidFill>
              <a:srgbClr val="14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49039" y="4462272"/>
            <a:ext cx="502920" cy="731520"/>
          </a:xfrm>
          <a:prstGeom prst="rect">
            <a:avLst/>
          </a:prstGeom>
          <a:solidFill>
            <a:srgbClr val="142D46"/>
          </a:solidFill>
          <a:ln w="12700">
            <a:solidFill>
              <a:srgbClr val="14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4709160"/>
            <a:ext cx="118872" cy="118872"/>
          </a:xfrm>
          <a:prstGeom prst="ellipse">
            <a:avLst/>
          </a:prstGeom>
          <a:solidFill>
            <a:srgbClr val="00B8E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37360" y="4572000"/>
            <a:ext cx="118872" cy="118872"/>
          </a:xfrm>
          <a:prstGeom prst="ellipse">
            <a:avLst/>
          </a:prstGeom>
          <a:solidFill>
            <a:srgbClr val="00B8E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60320" y="4681728"/>
            <a:ext cx="118872" cy="118872"/>
          </a:xfrm>
          <a:prstGeom prst="ellipse">
            <a:avLst/>
          </a:prstGeom>
          <a:solidFill>
            <a:srgbClr val="00B8E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200400" y="4434840"/>
            <a:ext cx="118872" cy="118872"/>
          </a:xfrm>
          <a:prstGeom prst="ellipse">
            <a:avLst/>
          </a:prstGeom>
          <a:solidFill>
            <a:srgbClr val="00B8E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977639" y="4617720"/>
            <a:ext cx="118872" cy="118872"/>
          </a:xfrm>
          <a:prstGeom prst="ellipse">
            <a:avLst/>
          </a:prstGeom>
          <a:solidFill>
            <a:srgbClr val="00B8E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4754880" y="2926080"/>
            <a:ext cx="2560320" cy="1097280"/>
          </a:xfrm>
          <a:prstGeom prst="line">
            <a:avLst/>
          </a:prstGeom>
          <a:ln w="1270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943600" y="3657600"/>
            <a:ext cx="2651760" cy="1280160"/>
          </a:xfrm>
          <a:prstGeom prst="line">
            <a:avLst/>
          </a:prstGeom>
          <a:ln w="1270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15200" y="1371600"/>
            <a:ext cx="2926080" cy="640080"/>
          </a:xfrm>
          <a:prstGeom prst="line">
            <a:avLst/>
          </a:prstGeom>
          <a:ln w="1270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54880" y="4572000"/>
            <a:ext cx="5577840" cy="182880"/>
          </a:xfrm>
          <a:prstGeom prst="line">
            <a:avLst/>
          </a:prstGeom>
          <a:ln w="1270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1143000"/>
            <a:ext cx="7863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Noto Sans Thai UI"/>
              </a:defRPr>
            </a:pPr>
            <a:r>
              <a:t>TRT Compound AI Transformation</a:t>
            </a:r>
          </a:p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Noto Sans Thai UI"/>
              </a:defRPr>
            </a:pPr>
            <a:r>
              <a:t>2026–2028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514600"/>
            <a:ext cx="7589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E6F0FA"/>
                </a:solidFill>
                <a:latin typeface="Noto Sans Thai"/>
              </a:defRPr>
            </a:pPr>
            <a:r>
              <a:t>From Compound Factory to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E6F0FA"/>
                </a:solidFill>
                <a:latin typeface="Noto Sans Thai"/>
              </a:defRPr>
            </a:pPr>
            <a:r>
              <a:t>AI-Driven Compound Intelligence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611880"/>
            <a:ext cx="4846320" cy="804672"/>
          </a:xfrm>
          <a:prstGeom prst="roundRect">
            <a:avLst/>
          </a:prstGeom>
          <a:solidFill>
            <a:srgbClr val="0E305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50" b="1">
                <a:solidFill>
                  <a:srgbClr val="FFFFFF"/>
                </a:solidFill>
                <a:latin typeface="Noto Sans Thai UI"/>
              </a:defRPr>
            </a:pPr>
            <a:r>
              <a:t>Transform Data into Knowledge</a:t>
            </a:r>
          </a:p>
          <a:p>
            <a:pPr algn="ctr">
              <a:spcAft>
                <a:spcPts val="200"/>
              </a:spcAft>
              <a:defRPr sz="1550" b="1">
                <a:solidFill>
                  <a:srgbClr val="FFFFFF"/>
                </a:solidFill>
                <a:latin typeface="Noto Sans Thai UI"/>
              </a:defRPr>
            </a:pPr>
            <a:r>
              <a:t>Transform Knowledge into Competitive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236208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9DB0C4"/>
                </a:solidFill>
                <a:latin typeface="Noto Sans Thai"/>
              </a:defRPr>
            </a:pPr>
            <a:r>
              <a:t>Executive Presentation | AMD • GM • Senior Management • BU Leaders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ทำไมต้อง AI? ทำไมต้องตอนนี้?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Current Challenges across Planning, Production, Engineering, Formulation Research, 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1993392" cy="2148840"/>
          </a:xfrm>
          <a:prstGeom prst="roundRect">
            <a:avLst/>
          </a:prstGeom>
          <a:solidFill>
            <a:srgbClr val="122A46"/>
          </a:solidFill>
          <a:ln w="12700">
            <a:solidFill>
              <a:srgbClr val="365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950" b="1">
                <a:solidFill>
                  <a:srgbClr val="E6F0FA"/>
                </a:solidFill>
                <a:latin typeface="Noto Sans Thai UI"/>
              </a:defRPr>
            </a:pPr>
            <a:r>
              <a:t>Planning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ตารางผลิตซับซ้อน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Order เปลี่ยนบ่อย</a:t>
            </a:r>
          </a:p>
        </p:txBody>
      </p:sp>
      <p:sp>
        <p:nvSpPr>
          <p:cNvPr id="10" name="Oval 9"/>
          <p:cNvSpPr/>
          <p:nvPr/>
        </p:nvSpPr>
        <p:spPr>
          <a:xfrm>
            <a:off x="2121408" y="1764792"/>
            <a:ext cx="347472" cy="347472"/>
          </a:xfrm>
          <a:prstGeom prst="ellipse">
            <a:avLst/>
          </a:prstGeom>
          <a:solidFill>
            <a:srgbClr val="074B87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Thai UI"/>
              </a:defRPr>
            </a:pPr>
            <a:r>
              <a:t>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2130552"/>
            <a:ext cx="1664208" cy="22860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07791" y="1600200"/>
            <a:ext cx="1993392" cy="2148840"/>
          </a:xfrm>
          <a:prstGeom prst="roundRect">
            <a:avLst/>
          </a:prstGeom>
          <a:solidFill>
            <a:srgbClr val="122A46"/>
          </a:solidFill>
          <a:ln w="12700">
            <a:solidFill>
              <a:srgbClr val="365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950" b="1">
                <a:solidFill>
                  <a:srgbClr val="E6F0FA"/>
                </a:solidFill>
                <a:latin typeface="Noto Sans Thai UI"/>
              </a:defRPr>
            </a:pPr>
            <a:r>
              <a:t>Production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ตัดสินใจจากประสบการณ์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Process Variation (ความแปรปรวน)</a:t>
            </a:r>
          </a:p>
        </p:txBody>
      </p:sp>
      <p:sp>
        <p:nvSpPr>
          <p:cNvPr id="13" name="Oval 12"/>
          <p:cNvSpPr/>
          <p:nvPr/>
        </p:nvSpPr>
        <p:spPr>
          <a:xfrm>
            <a:off x="4370831" y="1764792"/>
            <a:ext cx="347472" cy="347472"/>
          </a:xfrm>
          <a:prstGeom prst="ellipse">
            <a:avLst/>
          </a:prstGeom>
          <a:solidFill>
            <a:srgbClr val="074B87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Thai UI"/>
              </a:defRPr>
            </a:pPr>
            <a:r>
              <a:t>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72384" y="2130552"/>
            <a:ext cx="1664208" cy="22860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7216" y="1600200"/>
            <a:ext cx="1993392" cy="2148840"/>
          </a:xfrm>
          <a:prstGeom prst="roundRect">
            <a:avLst/>
          </a:prstGeom>
          <a:solidFill>
            <a:srgbClr val="122A46"/>
          </a:solidFill>
          <a:ln w="12700">
            <a:solidFill>
              <a:srgbClr val="365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950" b="1">
                <a:solidFill>
                  <a:srgbClr val="E6F0FA"/>
                </a:solidFill>
                <a:latin typeface="Noto Sans Thai UI"/>
              </a:defRPr>
            </a:pPr>
            <a:r>
              <a:t>Engineering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ยังเน้น PM (บำรุงรักษาเชิงป้องกัน)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Breakdown ยังเกิดขึ้น</a:t>
            </a:r>
          </a:p>
        </p:txBody>
      </p:sp>
      <p:sp>
        <p:nvSpPr>
          <p:cNvPr id="16" name="Oval 15"/>
          <p:cNvSpPr/>
          <p:nvPr/>
        </p:nvSpPr>
        <p:spPr>
          <a:xfrm>
            <a:off x="6620256" y="1764792"/>
            <a:ext cx="347472" cy="347472"/>
          </a:xfrm>
          <a:prstGeom prst="ellipse">
            <a:avLst/>
          </a:prstGeom>
          <a:solidFill>
            <a:srgbClr val="074B87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Thai UI"/>
              </a:defRPr>
            </a:pPr>
            <a:r>
              <a:t>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7" y="2130552"/>
            <a:ext cx="1664208" cy="22860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6640" y="1600200"/>
            <a:ext cx="1993392" cy="2148840"/>
          </a:xfrm>
          <a:prstGeom prst="roundRect">
            <a:avLst/>
          </a:prstGeom>
          <a:solidFill>
            <a:srgbClr val="122A46"/>
          </a:solidFill>
          <a:ln w="12700">
            <a:solidFill>
              <a:srgbClr val="365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950" b="1">
                <a:solidFill>
                  <a:srgbClr val="E6F0FA"/>
                </a:solidFill>
                <a:latin typeface="Noto Sans Thai UI"/>
              </a:defRPr>
            </a:pPr>
            <a:r>
              <a:t>Formulation Research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รอบพัฒนาสูตรนาน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Trial Batch Cost สูง</a:t>
            </a:r>
          </a:p>
        </p:txBody>
      </p:sp>
      <p:sp>
        <p:nvSpPr>
          <p:cNvPr id="19" name="Oval 18"/>
          <p:cNvSpPr/>
          <p:nvPr/>
        </p:nvSpPr>
        <p:spPr>
          <a:xfrm>
            <a:off x="8869680" y="1764792"/>
            <a:ext cx="347472" cy="347472"/>
          </a:xfrm>
          <a:prstGeom prst="ellipse">
            <a:avLst/>
          </a:prstGeom>
          <a:solidFill>
            <a:srgbClr val="074B87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Thai UI"/>
              </a:defRPr>
            </a:pPr>
            <a:r>
              <a:t>R&amp;D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71231" y="2130552"/>
            <a:ext cx="1664208" cy="22860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56064" y="1600200"/>
            <a:ext cx="1993392" cy="2148840"/>
          </a:xfrm>
          <a:prstGeom prst="roundRect">
            <a:avLst/>
          </a:prstGeom>
          <a:solidFill>
            <a:srgbClr val="122A46"/>
          </a:solidFill>
          <a:ln w="12700">
            <a:solidFill>
              <a:srgbClr val="365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950" b="1">
                <a:solidFill>
                  <a:srgbClr val="E6F0FA"/>
                </a:solidFill>
                <a:latin typeface="Noto Sans Thai UI"/>
              </a:defRPr>
            </a:pPr>
            <a:r>
              <a:t>Quality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Root Cause (สาเหตุราก) ช้า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E6F0FA"/>
                </a:solidFill>
                <a:latin typeface="Noto Sans Thai"/>
              </a:defRPr>
            </a:pPr>
            <a:r>
              <a:t>ความรู้กระจัดกระจาย</a:t>
            </a:r>
          </a:p>
        </p:txBody>
      </p:sp>
      <p:sp>
        <p:nvSpPr>
          <p:cNvPr id="22" name="Oval 21"/>
          <p:cNvSpPr/>
          <p:nvPr/>
        </p:nvSpPr>
        <p:spPr>
          <a:xfrm>
            <a:off x="11119104" y="1764792"/>
            <a:ext cx="347472" cy="347472"/>
          </a:xfrm>
          <a:prstGeom prst="ellipse">
            <a:avLst/>
          </a:prstGeom>
          <a:solidFill>
            <a:srgbClr val="074B87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Thai UI"/>
              </a:defRPr>
            </a:pPr>
            <a:r>
              <a:t>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0656" y="2130552"/>
            <a:ext cx="1664208" cy="22860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828800" y="4370832"/>
            <a:ext cx="8549640" cy="914400"/>
          </a:xfrm>
          <a:prstGeom prst="roundRect">
            <a:avLst/>
          </a:prstGeom>
          <a:solidFill>
            <a:srgbClr val="0C2D4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Noto Sans Thai UI"/>
              </a:defRPr>
            </a:pPr>
            <a:r>
              <a:t>“เรามี Data อยู่ทุกที่</a:t>
            </a:r>
          </a:p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Noto Sans Thai UI"/>
              </a:defRPr>
            </a:pPr>
            <a:r>
              <a:t>แต่ยังเปลี่ยนเป็น Knowledge ได้ไม่พอ”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BUSINESS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TRT Compound Business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ข้อมูลเกิดขึ้นทุกขั้นตอน แต่ยังไม่ไหลเป็นระบบเดียวกัน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Customer</a:t>
            </a:r>
          </a:p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RFQ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Costing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Formulation</a:t>
            </a:r>
          </a:p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Customer</a:t>
            </a:r>
          </a:p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1874519"/>
            <a:ext cx="1051560" cy="685800"/>
          </a:xfrm>
          <a:prstGeom prst="roundRect">
            <a:avLst/>
          </a:prstGeom>
          <a:solidFill>
            <a:srgbClr val="122D4C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Continuous</a:t>
            </a:r>
          </a:p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Improvement</a:t>
            </a:r>
          </a:p>
        </p:txBody>
      </p:sp>
      <p:cxnSp>
        <p:nvCxnSpPr>
          <p:cNvPr id="18" name="Connector 17"/>
          <p:cNvCxnSpPr>
            <a:stCxn id="9" idx="3"/>
            <a:endCxn id="10" idx="1"/>
          </p:cNvCxnSpPr>
          <p:nvPr/>
        </p:nvCxnSpPr>
        <p:spPr>
          <a:xfrm>
            <a:off x="1463040" y="2217419"/>
            <a:ext cx="228600" cy="0"/>
          </a:xfrm>
          <a:prstGeom prst="line">
            <a:avLst/>
          </a:prstGeom>
          <a:ln w="1651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0" idx="3"/>
            <a:endCxn id="11" idx="1"/>
          </p:cNvCxnSpPr>
          <p:nvPr/>
        </p:nvCxnSpPr>
        <p:spPr>
          <a:xfrm>
            <a:off x="2743200" y="2217419"/>
            <a:ext cx="45720" cy="0"/>
          </a:xfrm>
          <a:prstGeom prst="line">
            <a:avLst/>
          </a:prstGeom>
          <a:ln w="1651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1" idx="3"/>
            <a:endCxn id="12" idx="1"/>
          </p:cNvCxnSpPr>
          <p:nvPr/>
        </p:nvCxnSpPr>
        <p:spPr>
          <a:xfrm>
            <a:off x="3840480" y="2217419"/>
            <a:ext cx="137159" cy="0"/>
          </a:xfrm>
          <a:prstGeom prst="line">
            <a:avLst/>
          </a:prstGeom>
          <a:ln w="1651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2" idx="3"/>
            <a:endCxn id="13" idx="1"/>
          </p:cNvCxnSpPr>
          <p:nvPr/>
        </p:nvCxnSpPr>
        <p:spPr>
          <a:xfrm>
            <a:off x="5029199" y="2217419"/>
            <a:ext cx="228601" cy="0"/>
          </a:xfrm>
          <a:prstGeom prst="line">
            <a:avLst/>
          </a:prstGeom>
          <a:ln w="1651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3" idx="3"/>
            <a:endCxn id="14" idx="1"/>
          </p:cNvCxnSpPr>
          <p:nvPr/>
        </p:nvCxnSpPr>
        <p:spPr>
          <a:xfrm>
            <a:off x="6309360" y="2217419"/>
            <a:ext cx="137160" cy="0"/>
          </a:xfrm>
          <a:prstGeom prst="line">
            <a:avLst/>
          </a:prstGeom>
          <a:ln w="1651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4" idx="3"/>
            <a:endCxn id="15" idx="1"/>
          </p:cNvCxnSpPr>
          <p:nvPr/>
        </p:nvCxnSpPr>
        <p:spPr>
          <a:xfrm>
            <a:off x="7498080" y="2217419"/>
            <a:ext cx="320040" cy="0"/>
          </a:xfrm>
          <a:prstGeom prst="line">
            <a:avLst/>
          </a:prstGeom>
          <a:ln w="1651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5" idx="3"/>
            <a:endCxn id="16" idx="1"/>
          </p:cNvCxnSpPr>
          <p:nvPr/>
        </p:nvCxnSpPr>
        <p:spPr>
          <a:xfrm>
            <a:off x="8869680" y="2217419"/>
            <a:ext cx="137160" cy="0"/>
          </a:xfrm>
          <a:prstGeom prst="line">
            <a:avLst/>
          </a:prstGeom>
          <a:ln w="1651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6" idx="3"/>
            <a:endCxn id="17" idx="1"/>
          </p:cNvCxnSpPr>
          <p:nvPr/>
        </p:nvCxnSpPr>
        <p:spPr>
          <a:xfrm>
            <a:off x="10058400" y="2217419"/>
            <a:ext cx="137160" cy="0"/>
          </a:xfrm>
          <a:prstGeom prst="line">
            <a:avLst/>
          </a:prstGeom>
          <a:ln w="1651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n 25"/>
          <p:cNvSpPr/>
          <p:nvPr/>
        </p:nvSpPr>
        <p:spPr>
          <a:xfrm>
            <a:off x="1143000" y="3657600"/>
            <a:ext cx="914400" cy="1143000"/>
          </a:xfrm>
          <a:prstGeom prst="can">
            <a:avLst/>
          </a:prstGeom>
          <a:solidFill>
            <a:srgbClr val="102741"/>
          </a:solidFill>
          <a:ln>
            <a:solidFill>
              <a:srgbClr val="546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Thai UI"/>
              </a:defRPr>
            </a:pPr>
            <a:r>
              <a:t>Sales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  <a:latin typeface="Noto Sans Thai"/>
              </a:defRPr>
            </a:pPr>
            <a:r>
              <a:t>Data Silo</a:t>
            </a:r>
          </a:p>
        </p:txBody>
      </p:sp>
      <p:sp>
        <p:nvSpPr>
          <p:cNvPr id="27" name="Can 26"/>
          <p:cNvSpPr/>
          <p:nvPr/>
        </p:nvSpPr>
        <p:spPr>
          <a:xfrm>
            <a:off x="2697480" y="3657600"/>
            <a:ext cx="914400" cy="1143000"/>
          </a:xfrm>
          <a:prstGeom prst="can">
            <a:avLst/>
          </a:prstGeom>
          <a:solidFill>
            <a:srgbClr val="102741"/>
          </a:solidFill>
          <a:ln>
            <a:solidFill>
              <a:srgbClr val="546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Thai UI"/>
              </a:defRPr>
            </a:pPr>
            <a:r>
              <a:t>Cost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  <a:latin typeface="Noto Sans Thai"/>
              </a:defRPr>
            </a:pPr>
            <a:r>
              <a:t>Data Silo</a:t>
            </a:r>
          </a:p>
        </p:txBody>
      </p:sp>
      <p:sp>
        <p:nvSpPr>
          <p:cNvPr id="28" name="Can 27"/>
          <p:cNvSpPr/>
          <p:nvPr/>
        </p:nvSpPr>
        <p:spPr>
          <a:xfrm>
            <a:off x="4069080" y="3657600"/>
            <a:ext cx="914400" cy="1143000"/>
          </a:xfrm>
          <a:prstGeom prst="can">
            <a:avLst/>
          </a:prstGeom>
          <a:solidFill>
            <a:srgbClr val="102741"/>
          </a:solidFill>
          <a:ln>
            <a:solidFill>
              <a:srgbClr val="546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Thai UI"/>
              </a:defRPr>
            </a:pPr>
            <a:r>
              <a:t>Plan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  <a:latin typeface="Noto Sans Thai"/>
              </a:defRPr>
            </a:pPr>
            <a:r>
              <a:t>Data Silo</a:t>
            </a:r>
          </a:p>
        </p:txBody>
      </p:sp>
      <p:sp>
        <p:nvSpPr>
          <p:cNvPr id="29" name="Can 28"/>
          <p:cNvSpPr/>
          <p:nvPr/>
        </p:nvSpPr>
        <p:spPr>
          <a:xfrm>
            <a:off x="5349240" y="3657600"/>
            <a:ext cx="914400" cy="1143000"/>
          </a:xfrm>
          <a:prstGeom prst="can">
            <a:avLst/>
          </a:prstGeom>
          <a:solidFill>
            <a:srgbClr val="102741"/>
          </a:solidFill>
          <a:ln>
            <a:solidFill>
              <a:srgbClr val="546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Thai UI"/>
              </a:defRPr>
            </a:pPr>
            <a:r>
              <a:t>Prod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  <a:latin typeface="Noto Sans Thai"/>
              </a:defRPr>
            </a:pPr>
            <a:r>
              <a:t>Data Silo</a:t>
            </a:r>
          </a:p>
        </p:txBody>
      </p:sp>
      <p:sp>
        <p:nvSpPr>
          <p:cNvPr id="30" name="Can 29"/>
          <p:cNvSpPr/>
          <p:nvPr/>
        </p:nvSpPr>
        <p:spPr>
          <a:xfrm>
            <a:off x="6720840" y="3657600"/>
            <a:ext cx="914400" cy="1143000"/>
          </a:xfrm>
          <a:prstGeom prst="can">
            <a:avLst/>
          </a:prstGeom>
          <a:solidFill>
            <a:srgbClr val="102741"/>
          </a:solidFill>
          <a:ln>
            <a:solidFill>
              <a:srgbClr val="546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Thai UI"/>
              </a:defRPr>
            </a:pPr>
            <a:r>
              <a:t>R&amp;D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  <a:latin typeface="Noto Sans Thai"/>
              </a:defRPr>
            </a:pPr>
            <a:r>
              <a:t>Data Silo</a:t>
            </a:r>
          </a:p>
        </p:txBody>
      </p:sp>
      <p:sp>
        <p:nvSpPr>
          <p:cNvPr id="31" name="Can 30"/>
          <p:cNvSpPr/>
          <p:nvPr/>
        </p:nvSpPr>
        <p:spPr>
          <a:xfrm>
            <a:off x="9189720" y="3657600"/>
            <a:ext cx="914400" cy="1143000"/>
          </a:xfrm>
          <a:prstGeom prst="can">
            <a:avLst/>
          </a:prstGeom>
          <a:solidFill>
            <a:srgbClr val="102741"/>
          </a:solidFill>
          <a:ln>
            <a:solidFill>
              <a:srgbClr val="546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Thai UI"/>
              </a:defRPr>
            </a:pPr>
            <a:r>
              <a:t>QA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  <a:latin typeface="Noto Sans Thai"/>
              </a:defRPr>
            </a:pPr>
            <a:r>
              <a:t>Data Silo</a:t>
            </a:r>
          </a:p>
        </p:txBody>
      </p:sp>
      <p:cxnSp>
        <p:nvCxnSpPr>
          <p:cNvPr id="32" name="Connector 31"/>
          <p:cNvCxnSpPr>
            <a:stCxn id="26" idx="3"/>
            <a:endCxn id="27" idx="1"/>
          </p:cNvCxnSpPr>
          <p:nvPr/>
        </p:nvCxnSpPr>
        <p:spPr>
          <a:xfrm>
            <a:off x="2057400" y="4229100"/>
            <a:ext cx="640080" cy="0"/>
          </a:xfrm>
          <a:prstGeom prst="line">
            <a:avLst/>
          </a:prstGeom>
          <a:ln w="12700">
            <a:solidFill>
              <a:srgbClr val="FF5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27" idx="3"/>
            <a:endCxn id="28" idx="1"/>
          </p:cNvCxnSpPr>
          <p:nvPr/>
        </p:nvCxnSpPr>
        <p:spPr>
          <a:xfrm>
            <a:off x="3611880" y="4229100"/>
            <a:ext cx="457200" cy="0"/>
          </a:xfrm>
          <a:prstGeom prst="line">
            <a:avLst/>
          </a:prstGeom>
          <a:ln w="12700">
            <a:solidFill>
              <a:srgbClr val="FF5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28" idx="3"/>
            <a:endCxn id="29" idx="1"/>
          </p:cNvCxnSpPr>
          <p:nvPr/>
        </p:nvCxnSpPr>
        <p:spPr>
          <a:xfrm>
            <a:off x="4983480" y="4229100"/>
            <a:ext cx="365760" cy="0"/>
          </a:xfrm>
          <a:prstGeom prst="line">
            <a:avLst/>
          </a:prstGeom>
          <a:ln w="12700">
            <a:solidFill>
              <a:srgbClr val="FF5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9" idx="3"/>
            <a:endCxn id="30" idx="1"/>
          </p:cNvCxnSpPr>
          <p:nvPr/>
        </p:nvCxnSpPr>
        <p:spPr>
          <a:xfrm>
            <a:off x="6263640" y="4229100"/>
            <a:ext cx="457200" cy="0"/>
          </a:xfrm>
          <a:prstGeom prst="line">
            <a:avLst/>
          </a:prstGeom>
          <a:ln w="12700">
            <a:solidFill>
              <a:srgbClr val="FF5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30" idx="3"/>
            <a:endCxn id="31" idx="1"/>
          </p:cNvCxnSpPr>
          <p:nvPr/>
        </p:nvCxnSpPr>
        <p:spPr>
          <a:xfrm>
            <a:off x="7635240" y="4229100"/>
            <a:ext cx="1554480" cy="0"/>
          </a:xfrm>
          <a:prstGeom prst="line">
            <a:avLst/>
          </a:prstGeom>
          <a:ln w="12700">
            <a:solidFill>
              <a:srgbClr val="FF5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26080" y="5230368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A94D"/>
                </a:solidFill>
                <a:latin typeface="Noto Sans Thai UI"/>
              </a:defRPr>
            </a:pPr>
            <a:r>
              <a:t>Current Gap: Disconnected Data Silos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FA94D"/>
                </a:solidFill>
                <a:latin typeface="Noto Sans Thai UI"/>
              </a:defRPr>
            </a:pPr>
            <a:r>
              <a:t>(ไซโลข้อมูลที่ยังไม่เชื่อมกัน)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Agentic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Chatbot / Copilot คือ AI Front Door (ประตูหลักเข้าสู่ระบบ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2971800" cy="3703320"/>
          </a:xfrm>
          <a:prstGeom prst="roundRect">
            <a:avLst/>
          </a:prstGeom>
          <a:solidFill>
            <a:srgbClr val="1C2631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E6F0FA"/>
                </a:solidFill>
                <a:latin typeface="Noto Sans Thai UI"/>
              </a:defRPr>
            </a:pPr>
            <a:r>
              <a:t>Current State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F0FA"/>
                </a:solidFill>
                <a:latin typeface="Noto Sans Thai"/>
              </a:defRPr>
            </a:pPr>
            <a:r>
              <a:t>Human-Centric Process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F0FA"/>
                </a:solidFill>
                <a:latin typeface="Noto Sans Thai"/>
              </a:defRPr>
            </a:pPr>
            <a:endParaRPr/>
          </a:p>
          <a:p>
            <a:pPr algn="ctr">
              <a:spcAft>
                <a:spcPts val="200"/>
              </a:spcAft>
              <a:defRPr sz="1050" b="0">
                <a:solidFill>
                  <a:srgbClr val="E6F0FA"/>
                </a:solidFill>
                <a:latin typeface="Noto Sans Thai"/>
              </a:defRPr>
            </a:pPr>
            <a:r>
              <a:t>คนเป็นศูนย์กลาง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F0FA"/>
                </a:solidFill>
                <a:latin typeface="Noto Sans Thai"/>
              </a:defRPr>
            </a:pPr>
            <a:r>
              <a:t>ความรู้พึ่งบุคคล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F0FA"/>
                </a:solidFill>
                <a:latin typeface="Noto Sans Thai"/>
              </a:defRPr>
            </a:pPr>
            <a:r>
              <a:t>Manual Follow-up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F0FA"/>
                </a:solidFill>
                <a:latin typeface="Noto Sans Thai"/>
              </a:defRPr>
            </a:pPr>
            <a:r>
              <a:t>(ติดตามงานด้วยมือ)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F0FA"/>
                </a:solidFill>
                <a:latin typeface="Noto Sans Thai"/>
              </a:defRPr>
            </a:pPr>
            <a:r>
              <a:t>Data Silo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F0FA"/>
                </a:solidFill>
                <a:latin typeface="Noto Sans Thai"/>
              </a:defRPr>
            </a:pPr>
            <a:r>
              <a:t>(ข้อมูลแยกส่วน)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508760"/>
            <a:ext cx="2514600" cy="713232"/>
          </a:xfrm>
          <a:prstGeom prst="roundRect">
            <a:avLst/>
          </a:prstGeom>
          <a:solidFill>
            <a:srgbClr val="14304E"/>
          </a:solidFill>
          <a:ln w="12700">
            <a:solidFill>
              <a:srgbClr val="5C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69" b="1">
                <a:solidFill>
                  <a:srgbClr val="E6F0FA"/>
                </a:solidFill>
                <a:latin typeface="Noto Sans Thai UI"/>
              </a:defRPr>
            </a:pPr>
            <a:r>
              <a:t>Users</a:t>
            </a:r>
          </a:p>
          <a:p>
            <a:pPr algn="ctr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Sales • Planning • Production</a:t>
            </a:r>
          </a:p>
          <a:p>
            <a:pPr algn="ctr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Engineering • Quality • GM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788920"/>
            <a:ext cx="2697480" cy="960120"/>
          </a:xfrm>
          <a:prstGeom prst="roundRect">
            <a:avLst/>
          </a:prstGeom>
          <a:solidFill>
            <a:srgbClr val="005294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019" b="1">
                <a:solidFill>
                  <a:srgbClr val="FFFFFF"/>
                </a:solidFill>
                <a:latin typeface="Noto Sans Thai UI"/>
              </a:defRPr>
            </a:pPr>
            <a:r>
              <a:t>TRT Compound Chatbot</a:t>
            </a:r>
          </a:p>
          <a:p>
            <a:pPr algn="ctr">
              <a:spcAft>
                <a:spcPts val="200"/>
              </a:spcAft>
              <a:defRPr sz="1019" b="0">
                <a:solidFill>
                  <a:srgbClr val="FFFFFF"/>
                </a:solidFill>
                <a:latin typeface="Noto Sans Thai"/>
              </a:defRPr>
            </a:pPr>
            <a:r>
              <a:t>/ Copilot Layer</a:t>
            </a:r>
          </a:p>
          <a:p>
            <a:pPr algn="ctr">
              <a:spcAft>
                <a:spcPts val="200"/>
              </a:spcAft>
              <a:defRPr sz="1019" b="0">
                <a:solidFill>
                  <a:srgbClr val="FFFFFF"/>
                </a:solidFill>
                <a:latin typeface="Noto Sans Thai"/>
              </a:defRPr>
            </a:pPr>
            <a:endParaRPr/>
          </a:p>
          <a:p>
            <a:pPr algn="ctr">
              <a:spcAft>
                <a:spcPts val="200"/>
              </a:spcAft>
              <a:defRPr sz="1019" b="0">
                <a:solidFill>
                  <a:srgbClr val="FFFFFF"/>
                </a:solidFill>
                <a:latin typeface="Noto Sans Thai"/>
              </a:defRPr>
            </a:pPr>
            <a:r>
              <a:t>AI Front Door</a:t>
            </a:r>
          </a:p>
          <a:p>
            <a:pPr algn="ctr">
              <a:spcAft>
                <a:spcPts val="200"/>
              </a:spcAft>
              <a:defRPr sz="1019" b="0">
                <a:solidFill>
                  <a:srgbClr val="FFFFFF"/>
                </a:solidFill>
                <a:latin typeface="Noto Sans Thai"/>
              </a:defRPr>
            </a:pPr>
            <a:r>
              <a:t>(หน้าบ้านของระบบ AI)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4599432"/>
            <a:ext cx="2514600" cy="749808"/>
          </a:xfrm>
          <a:prstGeom prst="roundRect">
            <a:avLst/>
          </a:prstGeom>
          <a:solidFill>
            <a:srgbClr val="102844"/>
          </a:solidFill>
          <a:ln w="12700">
            <a:solidFill>
              <a:srgbClr val="4A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E6F0FA"/>
                </a:solidFill>
                <a:latin typeface="Noto Sans Thai UI"/>
              </a:defRPr>
            </a:pPr>
            <a:r>
              <a:t>Compound Data Platform</a:t>
            </a:r>
          </a:p>
          <a:p>
            <a:pPr algn="ctr">
              <a:spcAft>
                <a:spcPts val="200"/>
              </a:spcAft>
              <a:defRPr sz="800" b="0">
                <a:solidFill>
                  <a:srgbClr val="E6F0FA"/>
                </a:solidFill>
                <a:latin typeface="Noto Sans Thai"/>
              </a:defRPr>
            </a:pPr>
            <a:r>
              <a:t>ERP • Sheets • SCADA • NC</a:t>
            </a:r>
          </a:p>
          <a:p>
            <a:pPr algn="ctr">
              <a:spcAft>
                <a:spcPts val="200"/>
              </a:spcAft>
              <a:defRPr sz="800" b="0">
                <a:solidFill>
                  <a:srgbClr val="E6F0FA"/>
                </a:solidFill>
                <a:latin typeface="Noto Sans Thai"/>
              </a:defRPr>
            </a:pPr>
            <a:r>
              <a:t>PM/BM • Formula • Test Results</a:t>
            </a:r>
          </a:p>
        </p:txBody>
      </p:sp>
      <p:cxnSp>
        <p:nvCxnSpPr>
          <p:cNvPr id="13" name="Connector 12"/>
          <p:cNvCxnSpPr>
            <a:stCxn id="10" idx="2"/>
            <a:endCxn id="11" idx="0"/>
          </p:cNvCxnSpPr>
          <p:nvPr/>
        </p:nvCxnSpPr>
        <p:spPr>
          <a:xfrm flipH="1">
            <a:off x="5326379" y="2221992"/>
            <a:ext cx="1" cy="566928"/>
          </a:xfrm>
          <a:prstGeom prst="line">
            <a:avLst/>
          </a:prstGeom>
          <a:ln w="1905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11" idx="2"/>
            <a:endCxn id="12" idx="0"/>
          </p:cNvCxnSpPr>
          <p:nvPr/>
        </p:nvCxnSpPr>
        <p:spPr>
          <a:xfrm>
            <a:off x="5326379" y="3749040"/>
            <a:ext cx="1" cy="850392"/>
          </a:xfrm>
          <a:prstGeom prst="line">
            <a:avLst/>
          </a:prstGeom>
          <a:ln w="1905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11880" y="3410712"/>
            <a:ext cx="274320" cy="0"/>
          </a:xfrm>
          <a:prstGeom prst="line">
            <a:avLst/>
          </a:prstGeom>
          <a:ln w="2286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56432" y="299923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00B8E0"/>
                </a:solidFill>
                <a:latin typeface="Noto Sans Thai UI"/>
              </a:defRPr>
            </a:pPr>
            <a:r>
              <a:t>AI Transformation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1"/>
            <a:ext cx="4343400" cy="4251959"/>
          </a:xfrm>
          <a:prstGeom prst="roundRect">
            <a:avLst/>
          </a:prstGeom>
          <a:solidFill>
            <a:srgbClr val="0D3254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Thai UI"/>
              </a:defRPr>
            </a:pPr>
            <a:r>
              <a:rPr dirty="0"/>
              <a:t>Future State</a:t>
            </a:r>
          </a:p>
        </p:txBody>
      </p:sp>
      <p:sp>
        <p:nvSpPr>
          <p:cNvPr id="18" name="Oval 17"/>
          <p:cNvSpPr/>
          <p:nvPr/>
        </p:nvSpPr>
        <p:spPr>
          <a:xfrm>
            <a:off x="8942832" y="2953512"/>
            <a:ext cx="960120" cy="960120"/>
          </a:xfrm>
          <a:prstGeom prst="ellipse">
            <a:avLst/>
          </a:prstGeom>
          <a:solidFill>
            <a:srgbClr val="0058A1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Noto Sans Thai UI"/>
              </a:defRPr>
            </a:pPr>
            <a:r>
              <a:t>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4633" y="2447634"/>
            <a:ext cx="1170432" cy="502920"/>
          </a:xfrm>
          <a:prstGeom prst="roundRect">
            <a:avLst/>
          </a:prstGeom>
          <a:solidFill>
            <a:srgbClr val="16446C"/>
          </a:solidFill>
          <a:ln w="12700">
            <a:solidFill>
              <a:srgbClr val="56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Sales</a:t>
            </a:r>
          </a:p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Agent</a:t>
            </a:r>
          </a:p>
        </p:txBody>
      </p:sp>
      <p:cxnSp>
        <p:nvCxnSpPr>
          <p:cNvPr id="20" name="Connector 19"/>
          <p:cNvCxnSpPr>
            <a:cxnSpLocks/>
            <a:stCxn id="19" idx="3"/>
            <a:endCxn id="18" idx="1"/>
          </p:cNvCxnSpPr>
          <p:nvPr/>
        </p:nvCxnSpPr>
        <p:spPr>
          <a:xfrm>
            <a:off x="8665065" y="2699094"/>
            <a:ext cx="418373" cy="395024"/>
          </a:xfrm>
          <a:prstGeom prst="line">
            <a:avLst/>
          </a:prstGeom>
          <a:ln w="10795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68669" y="2488513"/>
            <a:ext cx="1170432" cy="502920"/>
          </a:xfrm>
          <a:prstGeom prst="roundRect">
            <a:avLst/>
          </a:prstGeom>
          <a:solidFill>
            <a:srgbClr val="16446C"/>
          </a:solidFill>
          <a:ln w="12700">
            <a:solidFill>
              <a:srgbClr val="56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Material</a:t>
            </a:r>
          </a:p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Agent</a:t>
            </a:r>
          </a:p>
        </p:txBody>
      </p:sp>
      <p:cxnSp>
        <p:nvCxnSpPr>
          <p:cNvPr id="22" name="Connector 21"/>
          <p:cNvCxnSpPr>
            <a:cxnSpLocks/>
            <a:stCxn id="21" idx="1"/>
            <a:endCxn id="18" idx="7"/>
          </p:cNvCxnSpPr>
          <p:nvPr/>
        </p:nvCxnSpPr>
        <p:spPr>
          <a:xfrm flipH="1">
            <a:off x="9762346" y="2739973"/>
            <a:ext cx="306323" cy="354145"/>
          </a:xfrm>
          <a:prstGeom prst="line">
            <a:avLst/>
          </a:prstGeom>
          <a:ln w="10795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43800" y="3794760"/>
            <a:ext cx="1170432" cy="502920"/>
          </a:xfrm>
          <a:prstGeom prst="roundRect">
            <a:avLst/>
          </a:prstGeom>
          <a:solidFill>
            <a:srgbClr val="16446C"/>
          </a:solidFill>
          <a:ln w="12700">
            <a:solidFill>
              <a:srgbClr val="56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Production</a:t>
            </a:r>
          </a:p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Agent</a:t>
            </a:r>
          </a:p>
        </p:txBody>
      </p:sp>
      <p:cxnSp>
        <p:nvCxnSpPr>
          <p:cNvPr id="24" name="Connector 23"/>
          <p:cNvCxnSpPr>
            <a:cxnSpLocks/>
            <a:stCxn id="23" idx="3"/>
            <a:endCxn id="18" idx="3"/>
          </p:cNvCxnSpPr>
          <p:nvPr/>
        </p:nvCxnSpPr>
        <p:spPr>
          <a:xfrm flipV="1">
            <a:off x="8714232" y="3773026"/>
            <a:ext cx="369206" cy="273194"/>
          </a:xfrm>
          <a:prstGeom prst="line">
            <a:avLst/>
          </a:prstGeom>
          <a:ln w="10795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69652" y="3788574"/>
            <a:ext cx="1170432" cy="502920"/>
          </a:xfrm>
          <a:prstGeom prst="roundRect">
            <a:avLst/>
          </a:prstGeom>
          <a:solidFill>
            <a:srgbClr val="16446C"/>
          </a:solidFill>
          <a:ln w="12700">
            <a:solidFill>
              <a:srgbClr val="56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Quality</a:t>
            </a:r>
          </a:p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Agent</a:t>
            </a:r>
          </a:p>
        </p:txBody>
      </p:sp>
      <p:cxnSp>
        <p:nvCxnSpPr>
          <p:cNvPr id="26" name="Connector 25"/>
          <p:cNvCxnSpPr>
            <a:cxnSpLocks/>
            <a:stCxn id="25" idx="1"/>
            <a:endCxn id="18" idx="5"/>
          </p:cNvCxnSpPr>
          <p:nvPr/>
        </p:nvCxnSpPr>
        <p:spPr>
          <a:xfrm flipH="1" flipV="1">
            <a:off x="9762346" y="3773026"/>
            <a:ext cx="407306" cy="267008"/>
          </a:xfrm>
          <a:prstGeom prst="line">
            <a:avLst/>
          </a:prstGeom>
          <a:ln w="10795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8532" y="4590288"/>
            <a:ext cx="1170432" cy="502920"/>
          </a:xfrm>
          <a:prstGeom prst="roundRect">
            <a:avLst/>
          </a:prstGeom>
          <a:solidFill>
            <a:srgbClr val="16446C"/>
          </a:solidFill>
          <a:ln w="12700">
            <a:solidFill>
              <a:srgbClr val="56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Maintenance</a:t>
            </a:r>
          </a:p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Agent</a:t>
            </a:r>
          </a:p>
        </p:txBody>
      </p:sp>
      <p:cxnSp>
        <p:nvCxnSpPr>
          <p:cNvPr id="28" name="Connector 27"/>
          <p:cNvCxnSpPr>
            <a:cxnSpLocks/>
            <a:stCxn id="27" idx="0"/>
            <a:endCxn id="18" idx="4"/>
          </p:cNvCxnSpPr>
          <p:nvPr/>
        </p:nvCxnSpPr>
        <p:spPr>
          <a:xfrm flipV="1">
            <a:off x="9413748" y="3913632"/>
            <a:ext cx="9144" cy="676656"/>
          </a:xfrm>
          <a:prstGeom prst="line">
            <a:avLst/>
          </a:prstGeom>
          <a:ln w="10795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828532" y="1646861"/>
            <a:ext cx="1170432" cy="502920"/>
          </a:xfrm>
          <a:prstGeom prst="roundRect">
            <a:avLst/>
          </a:prstGeom>
          <a:solidFill>
            <a:srgbClr val="16446C"/>
          </a:solidFill>
          <a:ln w="12700">
            <a:solidFill>
              <a:srgbClr val="56B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Formulation</a:t>
            </a:r>
          </a:p>
          <a:p>
            <a:pPr algn="ctr">
              <a:spcAft>
                <a:spcPts val="200"/>
              </a:spcAft>
              <a:defRPr sz="760" b="1">
                <a:solidFill>
                  <a:srgbClr val="FFFFFF"/>
                </a:solidFill>
                <a:latin typeface="Noto Sans Thai UI"/>
              </a:defRPr>
            </a:pPr>
            <a:r>
              <a:t>Agent</a:t>
            </a:r>
          </a:p>
        </p:txBody>
      </p:sp>
      <p:cxnSp>
        <p:nvCxnSpPr>
          <p:cNvPr id="30" name="Connector 29"/>
          <p:cNvCxnSpPr>
            <a:cxnSpLocks/>
            <a:stCxn id="29" idx="2"/>
            <a:endCxn id="18" idx="0"/>
          </p:cNvCxnSpPr>
          <p:nvPr/>
        </p:nvCxnSpPr>
        <p:spPr>
          <a:xfrm>
            <a:off x="9413748" y="2149781"/>
            <a:ext cx="9144" cy="803731"/>
          </a:xfrm>
          <a:prstGeom prst="line">
            <a:avLst/>
          </a:prstGeom>
          <a:ln w="10795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  <a:stCxn id="11" idx="3"/>
            <a:endCxn id="17" idx="1"/>
          </p:cNvCxnSpPr>
          <p:nvPr/>
        </p:nvCxnSpPr>
        <p:spPr>
          <a:xfrm>
            <a:off x="6675119" y="3268980"/>
            <a:ext cx="640081" cy="274321"/>
          </a:xfrm>
          <a:prstGeom prst="line">
            <a:avLst/>
          </a:prstGeom>
          <a:ln w="1524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43000" y="5623560"/>
            <a:ext cx="9966960" cy="502920"/>
          </a:xfrm>
          <a:prstGeom prst="roundRect">
            <a:avLst/>
          </a:prstGeom>
          <a:solidFill>
            <a:srgbClr val="084A78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Thai UI"/>
              </a:defRPr>
            </a:pPr>
            <a:r>
              <a:t>บทบาทของ Chatbot: ให้คนถาม สรุป วิเคราะห์ และสั่งงาน AI Agent ผ่านหน้าจอเดียว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FF2FD54E-B4AC-25A0-1800-EFA445F12C6D}"/>
              </a:ext>
            </a:extLst>
          </p:cNvPr>
          <p:cNvSpPr/>
          <p:nvPr/>
        </p:nvSpPr>
        <p:spPr>
          <a:xfrm>
            <a:off x="7315200" y="374904"/>
            <a:ext cx="4343400" cy="1005840"/>
          </a:xfrm>
          <a:prstGeom prst="roundRect">
            <a:avLst/>
          </a:prstGeom>
          <a:solidFill>
            <a:srgbClr val="0D3254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Thai UI"/>
              </a:defRPr>
            </a:pPr>
            <a:r>
              <a:rPr dirty="0"/>
              <a:t>Future State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rPr dirty="0"/>
              <a:t>Human + AI Agent Ecosystem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rPr dirty="0" err="1"/>
              <a:t>คนตัดสินใจ</a:t>
            </a:r>
            <a:endParaRPr dirty="0"/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rPr dirty="0"/>
              <a:t>AI </a:t>
            </a:r>
            <a:r>
              <a:rPr dirty="0" err="1"/>
              <a:t>วิเคราะห์</a:t>
            </a:r>
            <a:r>
              <a:rPr dirty="0"/>
              <a:t> • </a:t>
            </a:r>
            <a:r>
              <a:rPr dirty="0" err="1"/>
              <a:t>แนะนำ</a:t>
            </a:r>
            <a:r>
              <a:rPr dirty="0"/>
              <a:t> • </a:t>
            </a:r>
            <a:r>
              <a:rPr dirty="0" err="1"/>
              <a:t>เตือนความเสี่ยง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Sales &amp; RFQ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วิเคราะห์ RFQ เร็วขึ้น แม่นขึ้น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Outputs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2331720"/>
            <a:ext cx="1874519" cy="1874519"/>
          </a:xfrm>
          <a:prstGeom prst="ellipse">
            <a:avLst/>
          </a:prstGeom>
          <a:solidFill>
            <a:srgbClr val="0058A1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Thai UI"/>
              </a:defRPr>
            </a:pPr>
            <a:r>
              <a:t>RFQ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Agentic AI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(ผู้ช่วยเชิงรุก)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7400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RFQ</a:t>
            </a:r>
          </a:p>
        </p:txBody>
      </p:sp>
      <p:cxnSp>
        <p:nvCxnSpPr>
          <p:cNvPr id="14" name="Connector 13"/>
          <p:cNvCxnSpPr>
            <a:stCxn id="13" idx="3"/>
            <a:endCxn id="12" idx="1"/>
          </p:cNvCxnSpPr>
          <p:nvPr/>
        </p:nvCxnSpPr>
        <p:spPr>
          <a:xfrm>
            <a:off x="3657600" y="2276856"/>
            <a:ext cx="1234440" cy="99212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715768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Drawing</a:t>
            </a:r>
          </a:p>
        </p:txBody>
      </p:sp>
      <p:cxnSp>
        <p:nvCxnSpPr>
          <p:cNvPr id="16" name="Connector 15"/>
          <p:cNvCxnSpPr>
            <a:stCxn id="15" idx="3"/>
            <a:endCxn id="12" idx="1"/>
          </p:cNvCxnSpPr>
          <p:nvPr/>
        </p:nvCxnSpPr>
        <p:spPr>
          <a:xfrm>
            <a:off x="3657600" y="2935224"/>
            <a:ext cx="1234440" cy="3337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3374136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Specification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(ข้อกำหนดลูกค้า)</a:t>
            </a:r>
          </a:p>
        </p:txBody>
      </p:sp>
      <p:cxnSp>
        <p:nvCxnSpPr>
          <p:cNvPr id="18" name="Connector 17"/>
          <p:cNvCxnSpPr>
            <a:stCxn id="17" idx="3"/>
            <a:endCxn id="12" idx="1"/>
          </p:cNvCxnSpPr>
          <p:nvPr/>
        </p:nvCxnSpPr>
        <p:spPr>
          <a:xfrm flipV="1">
            <a:off x="3657600" y="3268979"/>
            <a:ext cx="1234440" cy="32461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2148840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CTQ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(Critical to Quality: จุดคุณภาพสำคัญ)</a:t>
            </a:r>
          </a:p>
        </p:txBody>
      </p:sp>
      <p:cxnSp>
        <p:nvCxnSpPr>
          <p:cNvPr id="20" name="Connector 19"/>
          <p:cNvCxnSpPr>
            <a:stCxn id="12" idx="3"/>
            <a:endCxn id="19" idx="1"/>
          </p:cNvCxnSpPr>
          <p:nvPr/>
        </p:nvCxnSpPr>
        <p:spPr>
          <a:xfrm flipV="1">
            <a:off x="6766559" y="2414016"/>
            <a:ext cx="1600201" cy="85496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2898648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Material Recommendation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(แนะนำวัตถุดิบ)</a:t>
            </a:r>
          </a:p>
        </p:txBody>
      </p:sp>
      <p:cxnSp>
        <p:nvCxnSpPr>
          <p:cNvPr id="22" name="Connector 21"/>
          <p:cNvCxnSpPr>
            <a:stCxn id="12" idx="3"/>
            <a:endCxn id="21" idx="1"/>
          </p:cNvCxnSpPr>
          <p:nvPr/>
        </p:nvCxnSpPr>
        <p:spPr>
          <a:xfrm flipV="1">
            <a:off x="6766559" y="3163824"/>
            <a:ext cx="1600201" cy="1051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66760" y="3648456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Risk Assessment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(ประเมินความเสี่ยง)</a:t>
            </a:r>
          </a:p>
        </p:txBody>
      </p:sp>
      <p:cxnSp>
        <p:nvCxnSpPr>
          <p:cNvPr id="24" name="Connector 23"/>
          <p:cNvCxnSpPr>
            <a:stCxn id="12" idx="3"/>
            <a:endCxn id="23" idx="1"/>
          </p:cNvCxnSpPr>
          <p:nvPr/>
        </p:nvCxnSpPr>
        <p:spPr>
          <a:xfrm>
            <a:off x="6766559" y="3268979"/>
            <a:ext cx="1600201" cy="64465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66760" y="4398264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Cost Estimate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(ประมาณการต้นทุน)</a:t>
            </a:r>
          </a:p>
        </p:txBody>
      </p:sp>
      <p:cxnSp>
        <p:nvCxnSpPr>
          <p:cNvPr id="26" name="Connector 25"/>
          <p:cNvCxnSpPr>
            <a:stCxn id="12" idx="3"/>
            <a:endCxn id="25" idx="1"/>
          </p:cNvCxnSpPr>
          <p:nvPr/>
        </p:nvCxnSpPr>
        <p:spPr>
          <a:xfrm>
            <a:off x="6766559" y="3268979"/>
            <a:ext cx="1600201" cy="1394461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828800" y="5532120"/>
            <a:ext cx="8503920" cy="566928"/>
          </a:xfrm>
          <a:prstGeom prst="roundRect">
            <a:avLst/>
          </a:prstGeom>
          <a:solidFill>
            <a:srgbClr val="0C304C"/>
          </a:solidFill>
          <a:ln w="12700">
            <a:solidFill>
              <a:srgbClr val="26D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26D07C"/>
                </a:solidFill>
                <a:latin typeface="Noto Sans Thai UI"/>
              </a:defRPr>
            </a:pPr>
            <a:r>
              <a:t>Business Impact: ลดเวลาวิเคราะห์ RFQ จาก “หลายวัน” เหลือ “ไม่กี่นาที”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31" name="Rounded Rectangle 24">
            <a:extLst>
              <a:ext uri="{FF2B5EF4-FFF2-40B4-BE49-F238E27FC236}">
                <a16:creationId xmlns:a16="http://schemas.microsoft.com/office/drawing/2014/main" id="{F8F9EB8E-6345-D3B3-A635-C7B102C72174}"/>
              </a:ext>
            </a:extLst>
          </p:cNvPr>
          <p:cNvSpPr/>
          <p:nvPr/>
        </p:nvSpPr>
        <p:spPr>
          <a:xfrm>
            <a:off x="8412480" y="5164108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rPr lang="th-TH" dirty="0"/>
              <a:t>ใบทดกลยุทธ์ เพื่อปิดการขาย </a:t>
            </a:r>
            <a:r>
              <a:rPr lang="en-US" dirty="0"/>
              <a:t>(</a:t>
            </a:r>
            <a:r>
              <a:rPr lang="th-TH" dirty="0"/>
              <a:t>ตารางคุณค่า </a:t>
            </a:r>
            <a:r>
              <a:rPr lang="en-US" dirty="0"/>
              <a:t>Compound A, B, C</a:t>
            </a:r>
            <a:r>
              <a:rPr lang="th-TH" dirty="0"/>
              <a:t>)</a:t>
            </a:r>
            <a:endParaRPr dirty="0"/>
          </a:p>
        </p:txBody>
      </p:sp>
      <p:cxnSp>
        <p:nvCxnSpPr>
          <p:cNvPr id="32" name="Connector 25">
            <a:extLst>
              <a:ext uri="{FF2B5EF4-FFF2-40B4-BE49-F238E27FC236}">
                <a16:creationId xmlns:a16="http://schemas.microsoft.com/office/drawing/2014/main" id="{20B1EC2A-512D-34A1-A1B9-851C1871CD96}"/>
              </a:ext>
            </a:extLst>
          </p:cNvPr>
          <p:cNvCxnSpPr>
            <a:cxnSpLocks/>
            <a:stCxn id="12" idx="6"/>
            <a:endCxn id="31" idx="1"/>
          </p:cNvCxnSpPr>
          <p:nvPr/>
        </p:nvCxnSpPr>
        <p:spPr>
          <a:xfrm>
            <a:off x="6766559" y="3268980"/>
            <a:ext cx="1645921" cy="2160304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Compound Formulation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สูตรยางเร็วขึ้น ต้นทุน Trial ลดลง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Outputs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2331720"/>
            <a:ext cx="1874519" cy="1874519"/>
          </a:xfrm>
          <a:prstGeom prst="ellipse">
            <a:avLst/>
          </a:prstGeom>
          <a:solidFill>
            <a:srgbClr val="0058A1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Thai UI"/>
              </a:defRPr>
            </a:pPr>
            <a:r>
              <a:t>R&amp;D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Agentic AI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(ผู้ช่วยเชิงรุก)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7400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Historical Formula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(สูตรเดิม)</a:t>
            </a:r>
          </a:p>
        </p:txBody>
      </p:sp>
      <p:cxnSp>
        <p:nvCxnSpPr>
          <p:cNvPr id="14" name="Connector 13"/>
          <p:cNvCxnSpPr>
            <a:stCxn id="13" idx="3"/>
            <a:endCxn id="12" idx="1"/>
          </p:cNvCxnSpPr>
          <p:nvPr/>
        </p:nvCxnSpPr>
        <p:spPr>
          <a:xfrm>
            <a:off x="3657600" y="2276856"/>
            <a:ext cx="1234440" cy="99212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715768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Rheometer Data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(ข้อมูลการคงรูป)</a:t>
            </a:r>
          </a:p>
        </p:txBody>
      </p:sp>
      <p:cxnSp>
        <p:nvCxnSpPr>
          <p:cNvPr id="16" name="Connector 15"/>
          <p:cNvCxnSpPr>
            <a:stCxn id="15" idx="3"/>
            <a:endCxn id="12" idx="1"/>
          </p:cNvCxnSpPr>
          <p:nvPr/>
        </p:nvCxnSpPr>
        <p:spPr>
          <a:xfrm>
            <a:off x="3657600" y="2935224"/>
            <a:ext cx="1234440" cy="3337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3374136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Physical Test Results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(ผลทดสอบกายภาพ)</a:t>
            </a:r>
          </a:p>
        </p:txBody>
      </p:sp>
      <p:cxnSp>
        <p:nvCxnSpPr>
          <p:cNvPr id="18" name="Connector 17"/>
          <p:cNvCxnSpPr>
            <a:stCxn id="17" idx="3"/>
            <a:endCxn id="12" idx="1"/>
          </p:cNvCxnSpPr>
          <p:nvPr/>
        </p:nvCxnSpPr>
        <p:spPr>
          <a:xfrm flipV="1">
            <a:off x="3657600" y="3268979"/>
            <a:ext cx="1234440" cy="32461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032504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Cost Data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(ข้อมูลต้นทุน)</a:t>
            </a:r>
          </a:p>
        </p:txBody>
      </p:sp>
      <p:cxnSp>
        <p:nvCxnSpPr>
          <p:cNvPr id="20" name="Connector 19"/>
          <p:cNvCxnSpPr>
            <a:stCxn id="19" idx="3"/>
            <a:endCxn id="12" idx="1"/>
          </p:cNvCxnSpPr>
          <p:nvPr/>
        </p:nvCxnSpPr>
        <p:spPr>
          <a:xfrm flipV="1">
            <a:off x="3657600" y="3268979"/>
            <a:ext cx="1234440" cy="982981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2148840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Formula Recommendation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(แนะนำสูตร)</a:t>
            </a:r>
          </a:p>
        </p:txBody>
      </p:sp>
      <p:cxnSp>
        <p:nvCxnSpPr>
          <p:cNvPr id="22" name="Connector 21"/>
          <p:cNvCxnSpPr>
            <a:stCxn id="12" idx="3"/>
            <a:endCxn id="21" idx="1"/>
          </p:cNvCxnSpPr>
          <p:nvPr/>
        </p:nvCxnSpPr>
        <p:spPr>
          <a:xfrm flipV="1">
            <a:off x="6766559" y="2414016"/>
            <a:ext cx="1600201" cy="85496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66760" y="2898648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DOE Plan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(แผนทดลองเชิงออกแบบ)</a:t>
            </a:r>
          </a:p>
        </p:txBody>
      </p:sp>
      <p:cxnSp>
        <p:nvCxnSpPr>
          <p:cNvPr id="24" name="Connector 23"/>
          <p:cNvCxnSpPr>
            <a:stCxn id="12" idx="3"/>
            <a:endCxn id="23" idx="1"/>
          </p:cNvCxnSpPr>
          <p:nvPr/>
        </p:nvCxnSpPr>
        <p:spPr>
          <a:xfrm flipV="1">
            <a:off x="6766559" y="3163824"/>
            <a:ext cx="1600201" cy="1051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66760" y="3648456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Property Prediction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(คาดการณ์สมบัติ)</a:t>
            </a:r>
          </a:p>
        </p:txBody>
      </p:sp>
      <p:cxnSp>
        <p:nvCxnSpPr>
          <p:cNvPr id="26" name="Connector 25"/>
          <p:cNvCxnSpPr>
            <a:stCxn id="12" idx="3"/>
            <a:endCxn id="25" idx="1"/>
          </p:cNvCxnSpPr>
          <p:nvPr/>
        </p:nvCxnSpPr>
        <p:spPr>
          <a:xfrm>
            <a:off x="6766559" y="3268979"/>
            <a:ext cx="1600201" cy="64465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828800" y="5532120"/>
            <a:ext cx="8503920" cy="566928"/>
          </a:xfrm>
          <a:prstGeom prst="roundRect">
            <a:avLst/>
          </a:prstGeom>
          <a:solidFill>
            <a:srgbClr val="0C304C"/>
          </a:solidFill>
          <a:ln w="12700">
            <a:solidFill>
              <a:srgbClr val="26D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26D07C"/>
                </a:solidFill>
                <a:latin typeface="Noto Sans Thai UI"/>
              </a:defRPr>
            </a:pPr>
            <a:r>
              <a:t>Business Impact: ลดจำนวน Trial Batch 30–50%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Production Optimization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ควบคุม Banbury / Kneader ด้วยข้อมูลจริง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Outputs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2331720"/>
            <a:ext cx="1874519" cy="1874519"/>
          </a:xfrm>
          <a:prstGeom prst="ellipse">
            <a:avLst/>
          </a:prstGeom>
          <a:solidFill>
            <a:srgbClr val="0058A1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Thai UI"/>
              </a:defRPr>
            </a:pPr>
            <a:r>
              <a:t>MIX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Agentic AI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(ผู้ช่วยเชิงรุก)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7400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Torque Curve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(กราฟแรงบิด)</a:t>
            </a:r>
          </a:p>
        </p:txBody>
      </p:sp>
      <p:cxnSp>
        <p:nvCxnSpPr>
          <p:cNvPr id="14" name="Connector 13"/>
          <p:cNvCxnSpPr>
            <a:stCxn id="13" idx="3"/>
            <a:endCxn id="12" idx="1"/>
          </p:cNvCxnSpPr>
          <p:nvPr/>
        </p:nvCxnSpPr>
        <p:spPr>
          <a:xfrm>
            <a:off x="3657600" y="2276856"/>
            <a:ext cx="1234440" cy="99212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715768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Rotor Speed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(ความเร็วโรเตอร์)</a:t>
            </a:r>
          </a:p>
        </p:txBody>
      </p:sp>
      <p:cxnSp>
        <p:nvCxnSpPr>
          <p:cNvPr id="16" name="Connector 15"/>
          <p:cNvCxnSpPr>
            <a:stCxn id="15" idx="3"/>
            <a:endCxn id="12" idx="1"/>
          </p:cNvCxnSpPr>
          <p:nvPr/>
        </p:nvCxnSpPr>
        <p:spPr>
          <a:xfrm>
            <a:off x="3657600" y="2935224"/>
            <a:ext cx="1234440" cy="3337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3374136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Specific Energy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(พลังงานจำเพาะ)</a:t>
            </a:r>
          </a:p>
        </p:txBody>
      </p:sp>
      <p:cxnSp>
        <p:nvCxnSpPr>
          <p:cNvPr id="18" name="Connector 17"/>
          <p:cNvCxnSpPr>
            <a:stCxn id="17" idx="3"/>
            <a:endCxn id="12" idx="1"/>
          </p:cNvCxnSpPr>
          <p:nvPr/>
        </p:nvCxnSpPr>
        <p:spPr>
          <a:xfrm flipV="1">
            <a:off x="3657600" y="3268979"/>
            <a:ext cx="1234440" cy="32461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032504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Ram Pressure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(แรงดันแรม)</a:t>
            </a:r>
          </a:p>
        </p:txBody>
      </p:sp>
      <p:cxnSp>
        <p:nvCxnSpPr>
          <p:cNvPr id="20" name="Connector 19"/>
          <p:cNvCxnSpPr>
            <a:stCxn id="19" idx="3"/>
            <a:endCxn id="12" idx="1"/>
          </p:cNvCxnSpPr>
          <p:nvPr/>
        </p:nvCxnSpPr>
        <p:spPr>
          <a:xfrm flipV="1">
            <a:off x="3657600" y="3268979"/>
            <a:ext cx="1234440" cy="982981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4690872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Drop Temperature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(อุณหภูมิดรอป)</a:t>
            </a:r>
          </a:p>
        </p:txBody>
      </p:sp>
      <p:cxnSp>
        <p:nvCxnSpPr>
          <p:cNvPr id="22" name="Connector 21"/>
          <p:cNvCxnSpPr>
            <a:stCxn id="21" idx="3"/>
            <a:endCxn id="12" idx="1"/>
          </p:cNvCxnSpPr>
          <p:nvPr/>
        </p:nvCxnSpPr>
        <p:spPr>
          <a:xfrm flipV="1">
            <a:off x="3657600" y="3268979"/>
            <a:ext cx="1234440" cy="1641349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66760" y="2148840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Optimal Parameter Recommendation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(แนะนำค่าพารามิเตอร์เหมาะสม)</a:t>
            </a:r>
          </a:p>
        </p:txBody>
      </p:sp>
      <p:cxnSp>
        <p:nvCxnSpPr>
          <p:cNvPr id="24" name="Connector 23"/>
          <p:cNvCxnSpPr>
            <a:stCxn id="12" idx="3"/>
            <a:endCxn id="23" idx="1"/>
          </p:cNvCxnSpPr>
          <p:nvPr/>
        </p:nvCxnSpPr>
        <p:spPr>
          <a:xfrm flipV="1">
            <a:off x="6766559" y="2414016"/>
            <a:ext cx="1600201" cy="85496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66760" y="2898648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Quality Prediction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(ทำนายคุณภาพ)</a:t>
            </a:r>
          </a:p>
        </p:txBody>
      </p:sp>
      <p:cxnSp>
        <p:nvCxnSpPr>
          <p:cNvPr id="26" name="Connector 25"/>
          <p:cNvCxnSpPr>
            <a:stCxn id="12" idx="3"/>
            <a:endCxn id="25" idx="1"/>
          </p:cNvCxnSpPr>
          <p:nvPr/>
        </p:nvCxnSpPr>
        <p:spPr>
          <a:xfrm flipV="1">
            <a:off x="6766559" y="3163824"/>
            <a:ext cx="1600201" cy="1051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66760" y="3648456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Early Warning Alert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(แจ้งเตือนล่วงหน้า)</a:t>
            </a:r>
          </a:p>
        </p:txBody>
      </p:sp>
      <p:cxnSp>
        <p:nvCxnSpPr>
          <p:cNvPr id="28" name="Connector 27"/>
          <p:cNvCxnSpPr>
            <a:stCxn id="12" idx="3"/>
            <a:endCxn id="27" idx="1"/>
          </p:cNvCxnSpPr>
          <p:nvPr/>
        </p:nvCxnSpPr>
        <p:spPr>
          <a:xfrm>
            <a:off x="6766559" y="3268979"/>
            <a:ext cx="1600201" cy="64465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828800" y="5532120"/>
            <a:ext cx="8503920" cy="566928"/>
          </a:xfrm>
          <a:prstGeom prst="roundRect">
            <a:avLst/>
          </a:prstGeom>
          <a:solidFill>
            <a:srgbClr val="0C304C"/>
          </a:solidFill>
          <a:ln w="12700">
            <a:solidFill>
              <a:srgbClr val="26D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26D07C"/>
                </a:solidFill>
                <a:latin typeface="Noto Sans Thai UI"/>
              </a:defRPr>
            </a:pPr>
            <a:r>
              <a:t>Business Impact: ลด Reject Rate และเพิ่ม Process Capability (ความสามารถกระบวนการ)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NC &amp; Quality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วิเคราะห์ NC เร็วขึ้น ไม่เริ่มจากศูนย์ทุกครั้ง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Outputs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2331720"/>
            <a:ext cx="1874519" cy="1874519"/>
          </a:xfrm>
          <a:prstGeom prst="ellipse">
            <a:avLst/>
          </a:prstGeom>
          <a:solidFill>
            <a:srgbClr val="0058A1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Thai UI"/>
              </a:defRPr>
            </a:pPr>
            <a:r>
              <a:t>QA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Agentic AI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(ผู้ช่วยเชิงรุก)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7400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NC Records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(ประวัติ NC)</a:t>
            </a:r>
          </a:p>
        </p:txBody>
      </p:sp>
      <p:cxnSp>
        <p:nvCxnSpPr>
          <p:cNvPr id="14" name="Connector 13"/>
          <p:cNvCxnSpPr>
            <a:stCxn id="13" idx="3"/>
            <a:endCxn id="12" idx="1"/>
          </p:cNvCxnSpPr>
          <p:nvPr/>
        </p:nvCxnSpPr>
        <p:spPr>
          <a:xfrm>
            <a:off x="3657600" y="2276856"/>
            <a:ext cx="1234440" cy="99212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715768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Customer Complaints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(ข้อร้องเรียนลูกค้า)</a:t>
            </a:r>
          </a:p>
        </p:txBody>
      </p:sp>
      <p:cxnSp>
        <p:nvCxnSpPr>
          <p:cNvPr id="16" name="Connector 15"/>
          <p:cNvCxnSpPr>
            <a:stCxn id="15" idx="3"/>
            <a:endCxn id="12" idx="1"/>
          </p:cNvCxnSpPr>
          <p:nvPr/>
        </p:nvCxnSpPr>
        <p:spPr>
          <a:xfrm>
            <a:off x="3657600" y="2935224"/>
            <a:ext cx="1234440" cy="3337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3374136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CAPA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(แก้ไขและป้องกัน)</a:t>
            </a:r>
          </a:p>
        </p:txBody>
      </p:sp>
      <p:cxnSp>
        <p:nvCxnSpPr>
          <p:cNvPr id="18" name="Connector 17"/>
          <p:cNvCxnSpPr>
            <a:stCxn id="17" idx="3"/>
            <a:endCxn id="12" idx="1"/>
          </p:cNvCxnSpPr>
          <p:nvPr/>
        </p:nvCxnSpPr>
        <p:spPr>
          <a:xfrm flipV="1">
            <a:off x="3657600" y="3268979"/>
            <a:ext cx="1234440" cy="32461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032504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Why-Why Analysis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(วิเคราะห์ทำไม-ทำไม)</a:t>
            </a:r>
          </a:p>
        </p:txBody>
      </p:sp>
      <p:cxnSp>
        <p:nvCxnSpPr>
          <p:cNvPr id="20" name="Connector 19"/>
          <p:cNvCxnSpPr>
            <a:stCxn id="19" idx="3"/>
            <a:endCxn id="12" idx="1"/>
          </p:cNvCxnSpPr>
          <p:nvPr/>
        </p:nvCxnSpPr>
        <p:spPr>
          <a:xfrm flipV="1">
            <a:off x="3657600" y="3268979"/>
            <a:ext cx="1234440" cy="982981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2148840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Root Cause Recommendation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(แนะนำสาเหตุราก)</a:t>
            </a:r>
          </a:p>
        </p:txBody>
      </p:sp>
      <p:cxnSp>
        <p:nvCxnSpPr>
          <p:cNvPr id="22" name="Connector 21"/>
          <p:cNvCxnSpPr>
            <a:stCxn id="12" idx="3"/>
            <a:endCxn id="21" idx="1"/>
          </p:cNvCxnSpPr>
          <p:nvPr/>
        </p:nvCxnSpPr>
        <p:spPr>
          <a:xfrm flipV="1">
            <a:off x="6766559" y="2414016"/>
            <a:ext cx="1600201" cy="85496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66760" y="2898648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Similar Case Search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(ค้นหาเคสคล้ายกัน)</a:t>
            </a:r>
          </a:p>
        </p:txBody>
      </p:sp>
      <p:cxnSp>
        <p:nvCxnSpPr>
          <p:cNvPr id="24" name="Connector 23"/>
          <p:cNvCxnSpPr>
            <a:stCxn id="12" idx="3"/>
            <a:endCxn id="23" idx="1"/>
          </p:cNvCxnSpPr>
          <p:nvPr/>
        </p:nvCxnSpPr>
        <p:spPr>
          <a:xfrm flipV="1">
            <a:off x="6766559" y="3163824"/>
            <a:ext cx="1600201" cy="1051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66760" y="3648456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CAPA Suggestion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(เสนอแนวทางแก้ไข/ป้องกัน)</a:t>
            </a:r>
          </a:p>
        </p:txBody>
      </p:sp>
      <p:cxnSp>
        <p:nvCxnSpPr>
          <p:cNvPr id="26" name="Connector 25"/>
          <p:cNvCxnSpPr>
            <a:stCxn id="12" idx="3"/>
            <a:endCxn id="25" idx="1"/>
          </p:cNvCxnSpPr>
          <p:nvPr/>
        </p:nvCxnSpPr>
        <p:spPr>
          <a:xfrm>
            <a:off x="6766559" y="3268979"/>
            <a:ext cx="1600201" cy="64465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828800" y="5532120"/>
            <a:ext cx="8503920" cy="566928"/>
          </a:xfrm>
          <a:prstGeom prst="roundRect">
            <a:avLst/>
          </a:prstGeom>
          <a:solidFill>
            <a:srgbClr val="0C304C"/>
          </a:solidFill>
          <a:ln w="12700">
            <a:solidFill>
              <a:srgbClr val="26D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26D07C"/>
                </a:solidFill>
                <a:latin typeface="Noto Sans Thai UI"/>
              </a:defRPr>
            </a:pPr>
            <a:r>
              <a:t>Business Impact: ลดเวลาวิเคราะห์ 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Predictive Maintenance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จากซ่อมตามแผน สู่คาดการณ์ก่อนเสีย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Outputs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2331720"/>
            <a:ext cx="1874519" cy="1874519"/>
          </a:xfrm>
          <a:prstGeom prst="ellipse">
            <a:avLst/>
          </a:prstGeom>
          <a:solidFill>
            <a:srgbClr val="0058A1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Thai UI"/>
              </a:defRPr>
            </a:pPr>
            <a:r>
              <a:t>PM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Agentic AI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Noto Sans Thai"/>
              </a:defRPr>
            </a:pPr>
            <a:r>
              <a:t>(ผู้ช่วยเชิงรุก)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7400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PM Records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(ประวัติบำรุงรักษาตามแผน)</a:t>
            </a:r>
          </a:p>
        </p:txBody>
      </p:sp>
      <p:cxnSp>
        <p:nvCxnSpPr>
          <p:cNvPr id="14" name="Connector 13"/>
          <p:cNvCxnSpPr>
            <a:stCxn id="13" idx="3"/>
            <a:endCxn id="12" idx="1"/>
          </p:cNvCxnSpPr>
          <p:nvPr/>
        </p:nvCxnSpPr>
        <p:spPr>
          <a:xfrm>
            <a:off x="3657600" y="2276856"/>
            <a:ext cx="1234440" cy="99212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715768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BM Records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(ประวัติซ่อมเมื่อเสีย)</a:t>
            </a:r>
          </a:p>
        </p:txBody>
      </p:sp>
      <p:cxnSp>
        <p:nvCxnSpPr>
          <p:cNvPr id="16" name="Connector 15"/>
          <p:cNvCxnSpPr>
            <a:stCxn id="15" idx="3"/>
            <a:endCxn id="12" idx="1"/>
          </p:cNvCxnSpPr>
          <p:nvPr/>
        </p:nvCxnSpPr>
        <p:spPr>
          <a:xfrm>
            <a:off x="3657600" y="2935224"/>
            <a:ext cx="1234440" cy="3337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3374136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Breakdown History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(ประวัติหยุดเครื่อง)</a:t>
            </a:r>
          </a:p>
        </p:txBody>
      </p:sp>
      <p:cxnSp>
        <p:nvCxnSpPr>
          <p:cNvPr id="18" name="Connector 17"/>
          <p:cNvCxnSpPr>
            <a:stCxn id="17" idx="3"/>
            <a:endCxn id="12" idx="1"/>
          </p:cNvCxnSpPr>
          <p:nvPr/>
        </p:nvCxnSpPr>
        <p:spPr>
          <a:xfrm flipV="1">
            <a:off x="3657600" y="3268979"/>
            <a:ext cx="1234440" cy="32461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032504"/>
            <a:ext cx="2926080" cy="438912"/>
          </a:xfrm>
          <a:prstGeom prst="roundRect">
            <a:avLst/>
          </a:prstGeom>
          <a:solidFill>
            <a:srgbClr val="15304E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E6F0FA"/>
                </a:solidFill>
                <a:latin typeface="Noto Sans Thai UI"/>
              </a:defRPr>
            </a:pPr>
            <a:r>
              <a:t>Spare Parts Data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E6F0FA"/>
                </a:solidFill>
                <a:latin typeface="Noto Sans Thai"/>
              </a:defRPr>
            </a:pPr>
            <a:r>
              <a:t>(ข้อมูลอะไหล่)</a:t>
            </a:r>
          </a:p>
        </p:txBody>
      </p:sp>
      <p:cxnSp>
        <p:nvCxnSpPr>
          <p:cNvPr id="20" name="Connector 19"/>
          <p:cNvCxnSpPr>
            <a:stCxn id="19" idx="3"/>
            <a:endCxn id="12" idx="1"/>
          </p:cNvCxnSpPr>
          <p:nvPr/>
        </p:nvCxnSpPr>
        <p:spPr>
          <a:xfrm flipV="1">
            <a:off x="3657600" y="3268979"/>
            <a:ext cx="1234440" cy="982981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2148840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Failure Prediction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(คาดการณ์การเสีย)</a:t>
            </a:r>
          </a:p>
        </p:txBody>
      </p:sp>
      <p:cxnSp>
        <p:nvCxnSpPr>
          <p:cNvPr id="22" name="Connector 21"/>
          <p:cNvCxnSpPr>
            <a:stCxn id="12" idx="3"/>
            <a:endCxn id="21" idx="1"/>
          </p:cNvCxnSpPr>
          <p:nvPr/>
        </p:nvCxnSpPr>
        <p:spPr>
          <a:xfrm flipV="1">
            <a:off x="6766559" y="2414016"/>
            <a:ext cx="1600201" cy="85496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66760" y="2898648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Maintenance Recommendation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(แนะนำงานบำรุงรักษา)</a:t>
            </a:r>
          </a:p>
        </p:txBody>
      </p:sp>
      <p:cxnSp>
        <p:nvCxnSpPr>
          <p:cNvPr id="24" name="Connector 23"/>
          <p:cNvCxnSpPr>
            <a:stCxn id="12" idx="3"/>
            <a:endCxn id="23" idx="1"/>
          </p:cNvCxnSpPr>
          <p:nvPr/>
        </p:nvCxnSpPr>
        <p:spPr>
          <a:xfrm flipV="1">
            <a:off x="6766559" y="3163824"/>
            <a:ext cx="1600201" cy="105155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66760" y="3648456"/>
            <a:ext cx="2971800" cy="530352"/>
          </a:xfrm>
          <a:prstGeom prst="roundRect">
            <a:avLst/>
          </a:prstGeom>
          <a:solidFill>
            <a:srgbClr val="113A5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30" b="1">
                <a:solidFill>
                  <a:srgbClr val="FFFFFF"/>
                </a:solidFill>
                <a:latin typeface="Noto Sans Thai UI"/>
              </a:defRPr>
            </a:pPr>
            <a:r>
              <a:t>Spare Forecast</a:t>
            </a:r>
          </a:p>
          <a:p>
            <a:pPr algn="l">
              <a:spcAft>
                <a:spcPts val="200"/>
              </a:spcAft>
              <a:defRPr sz="830" b="0">
                <a:solidFill>
                  <a:srgbClr val="FFFFFF"/>
                </a:solidFill>
                <a:latin typeface="Noto Sans Thai"/>
              </a:defRPr>
            </a:pPr>
            <a:r>
              <a:t>(คาดการณ์อะไหล่)</a:t>
            </a:r>
          </a:p>
        </p:txBody>
      </p:sp>
      <p:cxnSp>
        <p:nvCxnSpPr>
          <p:cNvPr id="26" name="Connector 25"/>
          <p:cNvCxnSpPr>
            <a:stCxn id="12" idx="3"/>
            <a:endCxn id="25" idx="1"/>
          </p:cNvCxnSpPr>
          <p:nvPr/>
        </p:nvCxnSpPr>
        <p:spPr>
          <a:xfrm>
            <a:off x="6766559" y="3268979"/>
            <a:ext cx="1600201" cy="644653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828800" y="5532120"/>
            <a:ext cx="8503920" cy="566928"/>
          </a:xfrm>
          <a:prstGeom prst="roundRect">
            <a:avLst/>
          </a:prstGeom>
          <a:solidFill>
            <a:srgbClr val="0C304C"/>
          </a:solidFill>
          <a:ln w="12700">
            <a:solidFill>
              <a:srgbClr val="26D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26D07C"/>
                </a:solidFill>
                <a:latin typeface="Noto Sans Thai UI"/>
              </a:defRPr>
            </a:pPr>
            <a:r>
              <a:t>Business Impact: ลด Breakdown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EXECUTIVE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GM Compound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Daily AI Executive Brief + Chatbot Interface (หน้าถามตอบสำหรับผู้บริหาร)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6903720" cy="4526280"/>
          </a:xfrm>
          <a:prstGeom prst="roundRect">
            <a:avLst/>
          </a:prstGeom>
          <a:solidFill>
            <a:srgbClr val="0E243D"/>
          </a:solidFill>
          <a:ln w="12700">
            <a:solidFill>
              <a:srgbClr val="43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B8E0"/>
                </a:solidFill>
                <a:latin typeface="Noto Sans Thai UI"/>
              </a:defRPr>
            </a:pPr>
            <a:r>
              <a:t>Executive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1984248"/>
            <a:ext cx="2880360" cy="841248"/>
          </a:xfrm>
          <a:prstGeom prst="roundRect">
            <a:avLst/>
          </a:prstGeom>
          <a:solidFill>
            <a:srgbClr val="143455"/>
          </a:solidFill>
          <a:ln w="12700">
            <a:solidFill>
              <a:srgbClr val="4A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69" b="1">
                <a:solidFill>
                  <a:srgbClr val="E6F0FA"/>
                </a:solidFill>
                <a:latin typeface="Noto Sans Thai UI"/>
              </a:defRPr>
            </a:pPr>
            <a:r>
              <a:t>Production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Achievement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92%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ผลงานผลิต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984248"/>
            <a:ext cx="2880360" cy="841248"/>
          </a:xfrm>
          <a:prstGeom prst="roundRect">
            <a:avLst/>
          </a:prstGeom>
          <a:solidFill>
            <a:srgbClr val="143455"/>
          </a:solidFill>
          <a:ln w="12700">
            <a:solidFill>
              <a:srgbClr val="4A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69" b="1">
                <a:solidFill>
                  <a:srgbClr val="E6F0FA"/>
                </a:solidFill>
                <a:latin typeface="Noto Sans Thai UI"/>
              </a:defRPr>
            </a:pPr>
            <a:r>
              <a:t>Delivery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Risk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High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ความเสี่ยงส่งมอบ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136391"/>
            <a:ext cx="2880360" cy="841248"/>
          </a:xfrm>
          <a:prstGeom prst="roundRect">
            <a:avLst/>
          </a:prstGeom>
          <a:solidFill>
            <a:srgbClr val="143455"/>
          </a:solidFill>
          <a:ln w="12700">
            <a:solidFill>
              <a:srgbClr val="4A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69" b="1">
                <a:solidFill>
                  <a:srgbClr val="E6F0FA"/>
                </a:solidFill>
                <a:latin typeface="Noto Sans Thai UI"/>
              </a:defRPr>
            </a:pPr>
            <a:r>
              <a:t>Machine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Health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78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สุขภาพเครื่องจักร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3136391"/>
            <a:ext cx="2880360" cy="841248"/>
          </a:xfrm>
          <a:prstGeom prst="roundRect">
            <a:avLst/>
          </a:prstGeom>
          <a:solidFill>
            <a:srgbClr val="143455"/>
          </a:solidFill>
          <a:ln w="12700">
            <a:solidFill>
              <a:srgbClr val="4A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69" b="1">
                <a:solidFill>
                  <a:srgbClr val="E6F0FA"/>
                </a:solidFill>
                <a:latin typeface="Noto Sans Thai UI"/>
              </a:defRPr>
            </a:pPr>
            <a:r>
              <a:t>Open NC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12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NC ที่ยังไม่ปิด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88536"/>
            <a:ext cx="2880360" cy="841248"/>
          </a:xfrm>
          <a:prstGeom prst="roundRect">
            <a:avLst/>
          </a:prstGeom>
          <a:solidFill>
            <a:srgbClr val="143455"/>
          </a:solidFill>
          <a:ln w="12700">
            <a:solidFill>
              <a:srgbClr val="4A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69" b="1">
                <a:solidFill>
                  <a:srgbClr val="E6F0FA"/>
                </a:solidFill>
                <a:latin typeface="Noto Sans Thai UI"/>
              </a:defRPr>
            </a:pPr>
            <a:r>
              <a:t>Inventory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Risk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3 items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ความเสี่ยงสต็อก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87368" y="4288536"/>
            <a:ext cx="2880360" cy="841248"/>
          </a:xfrm>
          <a:prstGeom prst="roundRect">
            <a:avLst/>
          </a:prstGeom>
          <a:solidFill>
            <a:srgbClr val="143455"/>
          </a:solidFill>
          <a:ln w="12700">
            <a:solidFill>
              <a:srgbClr val="4A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69" b="1">
                <a:solidFill>
                  <a:srgbClr val="E6F0FA"/>
                </a:solidFill>
                <a:latin typeface="Noto Sans Thai UI"/>
              </a:defRPr>
            </a:pPr>
            <a:r>
              <a:t>Management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Actions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5</a:t>
            </a:r>
          </a:p>
          <a:p>
            <a:pPr algn="l">
              <a:spcAft>
                <a:spcPts val="200"/>
              </a:spcAft>
              <a:defRPr sz="869" b="0">
                <a:solidFill>
                  <a:srgbClr val="E6F0FA"/>
                </a:solidFill>
                <a:latin typeface="Noto Sans Thai"/>
              </a:defRPr>
            </a:pPr>
            <a:r>
              <a:t>ข้อเสนอวันนี้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94960"/>
            <a:ext cx="6217920" cy="384048"/>
          </a:xfrm>
          <a:prstGeom prst="roundRect">
            <a:avLst/>
          </a:prstGeom>
          <a:solidFill>
            <a:srgbClr val="084D7D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40" b="1">
                <a:solidFill>
                  <a:srgbClr val="FFFFFF"/>
                </a:solidFill>
                <a:latin typeface="Noto Sans Thai UI"/>
              </a:defRPr>
            </a:pPr>
            <a:r>
              <a:t>AI Summary: เร่ง Delivery Risk + Machine Health ก่อนกระทบลูกค้า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44752"/>
            <a:ext cx="3794760" cy="4526280"/>
          </a:xfrm>
          <a:prstGeom prst="roundRect">
            <a:avLst/>
          </a:prstGeom>
          <a:solidFill>
            <a:srgbClr val="0A1F35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162763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Thai UI"/>
              </a:defRPr>
            </a:pPr>
            <a:r>
              <a:t>TRT Compound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1901952"/>
            <a:ext cx="2926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80" b="0">
                <a:solidFill>
                  <a:srgbClr val="9DB0C4"/>
                </a:solidFill>
                <a:latin typeface="Noto Sans Thai"/>
              </a:defRPr>
            </a:pPr>
            <a:r>
              <a:t>AI Front Door (หน้าบ้านของระบบ AI)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395728"/>
            <a:ext cx="3154680" cy="530352"/>
          </a:xfrm>
          <a:prstGeom prst="roundRect">
            <a:avLst/>
          </a:prstGeom>
          <a:solidFill>
            <a:srgbClr val="203C58"/>
          </a:solidFill>
          <a:ln w="12700">
            <a:solidFill>
              <a:srgbClr val="5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919" b="1">
                <a:solidFill>
                  <a:srgbClr val="FFFFFF"/>
                </a:solidFill>
                <a:latin typeface="Noto Sans Thai UI"/>
              </a:defRPr>
            </a:pPr>
            <a:r>
              <a:t>GM: วันนี้ควร Focus เรื่องอะไร?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154680"/>
            <a:ext cx="3154680" cy="1719072"/>
          </a:xfrm>
          <a:prstGeom prst="roundRect">
            <a:avLst/>
          </a:prstGeom>
          <a:solidFill>
            <a:srgbClr val="005294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850" b="1">
                <a:solidFill>
                  <a:srgbClr val="FFFFFF"/>
                </a:solidFill>
                <a:latin typeface="Noto Sans Thai UI"/>
              </a:defRPr>
            </a:pPr>
            <a:r>
              <a:t>AI Copilot: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FFFFFF"/>
                </a:solidFill>
                <a:latin typeface="Noto Sans Thai"/>
              </a:defRPr>
            </a:pPr>
            <a:r>
              <a:t>1. B80-1 มี Risk จาก Torque ผิดปกติ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FFFFFF"/>
                </a:solidFill>
                <a:latin typeface="Noto Sans Thai"/>
              </a:defRPr>
            </a:pPr>
            <a:r>
              <a:t>2. Order สำคัญเสี่ยง Delay 2 วัน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FFFFFF"/>
                </a:solidFill>
                <a:latin typeface="Noto Sans Thai"/>
              </a:defRPr>
            </a:pPr>
            <a:r>
              <a:t>3. NC ยังรอ CAPA 3 รายการ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FFFFFF"/>
                </a:solidFill>
                <a:latin typeface="Noto Sans Thai"/>
              </a:defRPr>
            </a:pPr>
            <a:r>
              <a:t>4. แนะนำปรับแผนผลิต Item A ก่อน 1 Batch</a:t>
            </a:r>
          </a:p>
        </p:txBody>
      </p:sp>
      <p:cxnSp>
        <p:nvCxnSpPr>
          <p:cNvPr id="23" name="Connector 22"/>
          <p:cNvCxnSpPr>
            <a:stCxn id="21" idx="2"/>
            <a:endCxn id="22" idx="0"/>
          </p:cNvCxnSpPr>
          <p:nvPr/>
        </p:nvCxnSpPr>
        <p:spPr>
          <a:xfrm flipH="1">
            <a:off x="9669780" y="2926080"/>
            <a:ext cx="0" cy="228600"/>
          </a:xfrm>
          <a:prstGeom prst="line">
            <a:avLst/>
          </a:prstGeom>
          <a:ln w="1270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92440" y="5166360"/>
            <a:ext cx="3154680" cy="475488"/>
          </a:xfrm>
          <a:prstGeom prst="roundRect">
            <a:avLst/>
          </a:prstGeom>
          <a:solidFill>
            <a:srgbClr val="0B4E69"/>
          </a:solidFill>
          <a:ln w="12700">
            <a:solidFill>
              <a:srgbClr val="26D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26D07C"/>
                </a:solidFill>
                <a:latin typeface="Noto Sans Thai UI"/>
              </a:defRPr>
            </a:pPr>
            <a:r>
              <a:t>Management Actions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26D07C"/>
                </a:solidFill>
                <a:latin typeface="Noto Sans Thai"/>
              </a:defRPr>
            </a:pPr>
            <a:r>
              <a:t>(ข้อเสนอให้ตัดสินใจ)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6172200"/>
            <a:ext cx="9326880" cy="365760"/>
          </a:xfrm>
          <a:prstGeom prst="roundRect">
            <a:avLst/>
          </a:prstGeom>
          <a:solidFill>
            <a:srgbClr val="122D4B"/>
          </a:solidFill>
          <a:ln w="12700">
            <a:solidFill>
              <a:srgbClr val="4A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Dashboard ใช้ดูภาพรวม • Chatbot ใช้ถาม สรุป วิเคราะห์ และสั่งงาน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Roadmap 2026–2028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จาก Digital Foundation สู่ AI Native Factory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097280" y="2926080"/>
            <a:ext cx="9875520" cy="0"/>
          </a:xfrm>
          <a:prstGeom prst="line">
            <a:avLst/>
          </a:prstGeom>
          <a:ln w="2540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196577" y="2331720"/>
            <a:ext cx="773206" cy="566928"/>
          </a:xfrm>
          <a:prstGeom prst="ellipse">
            <a:avLst/>
          </a:prstGeom>
          <a:solidFill>
            <a:srgbClr val="005AA6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Noto Sans Thai UI"/>
              </a:defRPr>
            </a:pPr>
            <a:r>
              <a:t>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337560"/>
            <a:ext cx="2697480" cy="1920240"/>
          </a:xfrm>
          <a:prstGeom prst="roundRect">
            <a:avLst/>
          </a:prstGeom>
          <a:solidFill>
            <a:srgbClr val="12315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19" b="1">
                <a:solidFill>
                  <a:srgbClr val="E6F0FA"/>
                </a:solidFill>
                <a:latin typeface="Noto Sans Thai UI"/>
              </a:defRPr>
            </a:pPr>
            <a:r>
              <a:t>Digital Foundation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(วางรากฐานดิจิทัล)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endParaRPr/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Unified Dashboard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(แดชบอร์ดรวม)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NC AI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Daily Briefing</a:t>
            </a:r>
          </a:p>
        </p:txBody>
      </p:sp>
      <p:cxnSp>
        <p:nvCxnSpPr>
          <p:cNvPr id="12" name="Connector 11"/>
          <p:cNvCxnSpPr>
            <a:cxnSpLocks/>
            <a:stCxn id="10" idx="4"/>
            <a:endCxn id="11" idx="0"/>
          </p:cNvCxnSpPr>
          <p:nvPr/>
        </p:nvCxnSpPr>
        <p:spPr>
          <a:xfrm>
            <a:off x="2583180" y="2898648"/>
            <a:ext cx="0" cy="438912"/>
          </a:xfrm>
          <a:prstGeom prst="line">
            <a:avLst/>
          </a:prstGeom>
          <a:ln w="1016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832661" y="2331720"/>
            <a:ext cx="724797" cy="566928"/>
          </a:xfrm>
          <a:prstGeom prst="ellipse">
            <a:avLst/>
          </a:prstGeom>
          <a:solidFill>
            <a:srgbClr val="005AA6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Noto Sans Thai UI"/>
              </a:defRPr>
            </a:pPr>
            <a:r>
              <a:rPr dirty="0"/>
              <a:t>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337560"/>
            <a:ext cx="2697480" cy="1920240"/>
          </a:xfrm>
          <a:prstGeom prst="roundRect">
            <a:avLst/>
          </a:prstGeom>
          <a:solidFill>
            <a:srgbClr val="12315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19" b="1">
                <a:solidFill>
                  <a:srgbClr val="E6F0FA"/>
                </a:solidFill>
                <a:latin typeface="Noto Sans Thai UI"/>
              </a:defRPr>
            </a:pPr>
            <a:r>
              <a:t>Smart Operation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(ปฏิบัติการอัจฉริยะ)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endParaRPr/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Production Scheduler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(ระบบจัดตารางผลิต)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Predictive Maintenance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Banbury Optimization</a:t>
            </a:r>
          </a:p>
        </p:txBody>
      </p:sp>
      <p:cxnSp>
        <p:nvCxnSpPr>
          <p:cNvPr id="15" name="Connector 14"/>
          <p:cNvCxnSpPr>
            <a:cxnSpLocks/>
            <a:stCxn id="13" idx="4"/>
            <a:endCxn id="14" idx="0"/>
          </p:cNvCxnSpPr>
          <p:nvPr/>
        </p:nvCxnSpPr>
        <p:spPr>
          <a:xfrm>
            <a:off x="6195060" y="2898648"/>
            <a:ext cx="0" cy="438912"/>
          </a:xfrm>
          <a:prstGeom prst="line">
            <a:avLst/>
          </a:prstGeom>
          <a:ln w="1016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44540" y="2331720"/>
            <a:ext cx="724797" cy="566928"/>
          </a:xfrm>
          <a:prstGeom prst="ellipse">
            <a:avLst/>
          </a:prstGeom>
          <a:solidFill>
            <a:srgbClr val="005AA6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Noto Sans Thai UI"/>
              </a:defRPr>
            </a:pPr>
            <a:r>
              <a:rPr dirty="0"/>
              <a:t>2028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3337560"/>
            <a:ext cx="2697480" cy="1920240"/>
          </a:xfrm>
          <a:prstGeom prst="roundRect">
            <a:avLst/>
          </a:prstGeom>
          <a:solidFill>
            <a:srgbClr val="123150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19" b="1">
                <a:solidFill>
                  <a:srgbClr val="E6F0FA"/>
                </a:solidFill>
                <a:latin typeface="Noto Sans Thai UI"/>
              </a:defRPr>
            </a:pPr>
            <a:r>
              <a:t>AI Native Factory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(โรงงานที่ AI เป็นส่วนหนึ่งของการทำงาน)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endParaRPr/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Formula AI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Costing AI</a:t>
            </a:r>
          </a:p>
          <a:p>
            <a:pPr algn="ctr">
              <a:spcAft>
                <a:spcPts val="200"/>
              </a:spcAft>
              <a:defRPr sz="919" b="0">
                <a:solidFill>
                  <a:srgbClr val="E6F0FA"/>
                </a:solidFill>
                <a:latin typeface="Noto Sans Thai"/>
              </a:defRPr>
            </a:pPr>
            <a:r>
              <a:t>Cost Reduction AI</a:t>
            </a:r>
          </a:p>
        </p:txBody>
      </p:sp>
      <p:cxnSp>
        <p:nvCxnSpPr>
          <p:cNvPr id="18" name="Connector 17"/>
          <p:cNvCxnSpPr>
            <a:cxnSpLocks/>
            <a:stCxn id="16" idx="4"/>
            <a:endCxn id="17" idx="0"/>
          </p:cNvCxnSpPr>
          <p:nvPr/>
        </p:nvCxnSpPr>
        <p:spPr>
          <a:xfrm>
            <a:off x="9806939" y="2898648"/>
            <a:ext cx="1" cy="438912"/>
          </a:xfrm>
          <a:prstGeom prst="line">
            <a:avLst/>
          </a:prstGeom>
          <a:ln w="1016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Expected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ผลลัพธ์ทางธุรกิจที่คาดหวัง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783080"/>
            <a:ext cx="3154680" cy="1234440"/>
          </a:xfrm>
          <a:prstGeom prst="roundRect">
            <a:avLst/>
          </a:prstGeom>
          <a:solidFill>
            <a:srgbClr val="123453"/>
          </a:solidFill>
          <a:ln w="1270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1600" b="1">
                <a:solidFill>
                  <a:srgbClr val="FF5B5B"/>
                </a:solidFill>
                <a:latin typeface="Noto Sans Thai UI"/>
              </a:defRPr>
            </a:pPr>
            <a:r>
              <a:t>Reject Rate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FF5B5B"/>
                </a:solidFill>
                <a:latin typeface="Noto Sans Thai UI"/>
              </a:defRPr>
            </a:pPr>
            <a:r>
              <a:t>-30%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154680" cy="1234440"/>
          </a:xfrm>
          <a:prstGeom prst="roundRect">
            <a:avLst/>
          </a:prstGeom>
          <a:solidFill>
            <a:srgbClr val="123453"/>
          </a:solidFill>
          <a:ln w="1270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1600" b="1">
                <a:solidFill>
                  <a:srgbClr val="FF5B5B"/>
                </a:solidFill>
                <a:latin typeface="Noto Sans Thai UI"/>
              </a:defRPr>
            </a:pPr>
            <a:r>
              <a:t>Breakdown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FF5B5B"/>
                </a:solidFill>
                <a:latin typeface="Noto Sans Thai UI"/>
              </a:defRPr>
            </a:pPr>
            <a:r>
              <a:t>-40%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783080"/>
            <a:ext cx="3154680" cy="1234440"/>
          </a:xfrm>
          <a:prstGeom prst="roundRect">
            <a:avLst/>
          </a:prstGeom>
          <a:solidFill>
            <a:srgbClr val="123453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1600" b="1">
                <a:solidFill>
                  <a:srgbClr val="FFA94D"/>
                </a:solidFill>
                <a:latin typeface="Noto Sans Thai UI"/>
              </a:defRPr>
            </a:pPr>
            <a:r>
              <a:t>Inventory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FFA94D"/>
                </a:solidFill>
                <a:latin typeface="Noto Sans Thai UI"/>
              </a:defRPr>
            </a:pPr>
            <a:r>
              <a:t>-20%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3154680" cy="1234440"/>
          </a:xfrm>
          <a:prstGeom prst="roundRect">
            <a:avLst/>
          </a:prstGeom>
          <a:solidFill>
            <a:srgbClr val="123453"/>
          </a:solidFill>
          <a:ln w="12700">
            <a:solidFill>
              <a:srgbClr val="26D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1600" b="1">
                <a:solidFill>
                  <a:srgbClr val="26D07C"/>
                </a:solidFill>
                <a:latin typeface="Noto Sans Thai UI"/>
              </a:defRPr>
            </a:pPr>
            <a:r>
              <a:t>Productivity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26D07C"/>
                </a:solidFill>
                <a:latin typeface="Noto Sans Thai UI"/>
              </a:defRPr>
            </a:pPr>
            <a:r>
              <a:t>+20%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474720"/>
            <a:ext cx="3154680" cy="1234440"/>
          </a:xfrm>
          <a:prstGeom prst="roundRect">
            <a:avLst/>
          </a:prstGeom>
          <a:solidFill>
            <a:srgbClr val="123453"/>
          </a:solidFill>
          <a:ln w="12700">
            <a:solidFill>
              <a:srgbClr val="26D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1600" b="1">
                <a:solidFill>
                  <a:srgbClr val="26D07C"/>
                </a:solidFill>
                <a:latin typeface="Noto Sans Thai UI"/>
              </a:defRPr>
            </a:pPr>
            <a:r>
              <a:t>Planning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26D07C"/>
                </a:solidFill>
                <a:latin typeface="Noto Sans Thai UI"/>
              </a:defRPr>
            </a:pPr>
            <a:r>
              <a:t>Efficiency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26D07C"/>
                </a:solidFill>
                <a:latin typeface="Noto Sans Thai UI"/>
              </a:defRPr>
            </a:pPr>
            <a:r>
              <a:t>+50%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3474720"/>
            <a:ext cx="3154680" cy="1234440"/>
          </a:xfrm>
          <a:prstGeom prst="roundRect">
            <a:avLst/>
          </a:prstGeom>
          <a:solidFill>
            <a:srgbClr val="123453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Cost Saving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00B8E0"/>
                </a:solidFill>
                <a:latin typeface="Noto Sans Thai UI"/>
              </a:defRPr>
            </a:pPr>
            <a:r>
              <a:t>&gt; 5M THB / 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5504688"/>
            <a:ext cx="9326880" cy="475488"/>
          </a:xfrm>
          <a:prstGeom prst="roundRect">
            <a:avLst/>
          </a:prstGeom>
          <a:solidFill>
            <a:srgbClr val="084A78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Thai UI"/>
              </a:defRPr>
            </a:pPr>
            <a:r>
              <a:t>เป้าหมาย: ลดความสูญเสีย + เพิ่มความเร็วในการตัดสินใจ + สร้างข้อได้เปรียบทางต้นทุน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B8E0"/>
                </a:solidFill>
                <a:latin typeface="Noto Sans Thai UI"/>
              </a:defRPr>
            </a:pPr>
            <a:r>
              <a:t>STRATEGIC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Strategic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9DB0C4"/>
                </a:solidFill>
                <a:latin typeface="Noto Sans Thai"/>
              </a:defRPr>
            </a:pPr>
            <a:r>
              <a:t>TRT Compound becomes “Compound Intelligence Platform”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07592"/>
            <a:ext cx="1920240" cy="36576"/>
          </a:xfrm>
          <a:prstGeom prst="rect">
            <a:avLst/>
          </a:prstGeom>
          <a:solidFill>
            <a:srgbClr val="0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395728"/>
            <a:ext cx="1737360" cy="868680"/>
          </a:xfrm>
          <a:prstGeom prst="roundRect">
            <a:avLst/>
          </a:prstGeom>
          <a:solidFill>
            <a:srgbClr val="123758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395728"/>
            <a:ext cx="1737360" cy="868680"/>
          </a:xfrm>
          <a:prstGeom prst="roundRect">
            <a:avLst/>
          </a:prstGeom>
          <a:solidFill>
            <a:srgbClr val="005294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Chatbot /</a:t>
            </a:r>
          </a:p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Copilot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395728"/>
            <a:ext cx="1737360" cy="868680"/>
          </a:xfrm>
          <a:prstGeom prst="roundRect">
            <a:avLst/>
          </a:prstGeom>
          <a:solidFill>
            <a:srgbClr val="123758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395728"/>
            <a:ext cx="1737360" cy="868680"/>
          </a:xfrm>
          <a:prstGeom prst="roundRect">
            <a:avLst/>
          </a:prstGeom>
          <a:solidFill>
            <a:srgbClr val="123758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Business</a:t>
            </a:r>
          </a:p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395728"/>
            <a:ext cx="1737360" cy="868680"/>
          </a:xfrm>
          <a:prstGeom prst="roundRect">
            <a:avLst/>
          </a:prstGeom>
          <a:solidFill>
            <a:srgbClr val="123758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Competitive</a:t>
            </a:r>
          </a:p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  <a:latin typeface="Noto Sans Thai UI"/>
              </a:defRPr>
            </a:pPr>
            <a:r>
              <a:t>Advantage</a:t>
            </a:r>
          </a:p>
        </p:txBody>
      </p:sp>
      <p:cxnSp>
        <p:nvCxnSpPr>
          <p:cNvPr id="14" name="Connector 13"/>
          <p:cNvCxnSpPr>
            <a:stCxn id="9" idx="3"/>
            <a:endCxn id="10" idx="1"/>
          </p:cNvCxnSpPr>
          <p:nvPr/>
        </p:nvCxnSpPr>
        <p:spPr>
          <a:xfrm>
            <a:off x="2331720" y="2830068"/>
            <a:ext cx="640080" cy="0"/>
          </a:xfrm>
          <a:prstGeom prst="line">
            <a:avLst/>
          </a:prstGeom>
          <a:ln w="2286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10" idx="3"/>
            <a:endCxn id="11" idx="1"/>
          </p:cNvCxnSpPr>
          <p:nvPr/>
        </p:nvCxnSpPr>
        <p:spPr>
          <a:xfrm>
            <a:off x="4709160" y="2830068"/>
            <a:ext cx="731520" cy="0"/>
          </a:xfrm>
          <a:prstGeom prst="line">
            <a:avLst/>
          </a:prstGeom>
          <a:ln w="2286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1" idx="3"/>
            <a:endCxn id="12" idx="1"/>
          </p:cNvCxnSpPr>
          <p:nvPr/>
        </p:nvCxnSpPr>
        <p:spPr>
          <a:xfrm>
            <a:off x="7178040" y="2830068"/>
            <a:ext cx="457200" cy="0"/>
          </a:xfrm>
          <a:prstGeom prst="line">
            <a:avLst/>
          </a:prstGeom>
          <a:ln w="2286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12" idx="3"/>
            <a:endCxn id="13" idx="1"/>
          </p:cNvCxnSpPr>
          <p:nvPr/>
        </p:nvCxnSpPr>
        <p:spPr>
          <a:xfrm>
            <a:off x="9372600" y="2830068"/>
            <a:ext cx="457200" cy="0"/>
          </a:xfrm>
          <a:prstGeom prst="line">
            <a:avLst/>
          </a:prstGeom>
          <a:ln w="22860">
            <a:solidFill>
              <a:srgbClr val="00B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0" y="1417320"/>
            <a:ext cx="8503920" cy="384048"/>
          </a:xfrm>
          <a:prstGeom prst="roundRect">
            <a:avLst/>
          </a:prstGeom>
          <a:solidFill>
            <a:srgbClr val="084A78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Thai UI"/>
              </a:defRPr>
            </a:pPr>
            <a:r>
              <a:t>Chatbot คือหน้าบ้านที่ทำให้คนเข้าถึง Data + AI Agents ได้ง่ายที่สุด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60520"/>
            <a:ext cx="3063240" cy="566928"/>
          </a:xfrm>
          <a:prstGeom prst="roundRect">
            <a:avLst/>
          </a:prstGeom>
          <a:solidFill>
            <a:srgbClr val="16304B"/>
          </a:solidFill>
          <a:ln w="12700">
            <a:solidFill>
              <a:srgbClr val="44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19" b="1">
                <a:solidFill>
                  <a:srgbClr val="E6F0FA"/>
                </a:solidFill>
                <a:latin typeface="Noto Sans Thai UI"/>
              </a:defRPr>
            </a:pPr>
            <a:r>
              <a:t>Knowledge</a:t>
            </a:r>
          </a:p>
          <a:p>
            <a:pPr algn="ctr">
              <a:spcAft>
                <a:spcPts val="200"/>
              </a:spcAft>
              <a:defRPr sz="819" b="0">
                <a:solidFill>
                  <a:srgbClr val="E6F0FA"/>
                </a:solidFill>
                <a:latin typeface="Noto Sans Thai"/>
              </a:defRPr>
            </a:pPr>
            <a:r>
              <a:t>Retention | รักษาองค์ความรู้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60520"/>
            <a:ext cx="3063240" cy="566928"/>
          </a:xfrm>
          <a:prstGeom prst="roundRect">
            <a:avLst/>
          </a:prstGeom>
          <a:solidFill>
            <a:srgbClr val="16304B"/>
          </a:solidFill>
          <a:ln w="12700">
            <a:solidFill>
              <a:srgbClr val="44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19" b="1">
                <a:solidFill>
                  <a:srgbClr val="E6F0FA"/>
                </a:solidFill>
                <a:latin typeface="Noto Sans Thai UI"/>
              </a:defRPr>
            </a:pPr>
            <a:r>
              <a:t>Faster Product</a:t>
            </a:r>
          </a:p>
          <a:p>
            <a:pPr algn="ctr">
              <a:spcAft>
                <a:spcPts val="200"/>
              </a:spcAft>
              <a:defRPr sz="819" b="0">
                <a:solidFill>
                  <a:srgbClr val="E6F0FA"/>
                </a:solidFill>
                <a:latin typeface="Noto Sans Thai"/>
              </a:defRPr>
            </a:pPr>
            <a:r>
              <a:t>Development | พัฒนาสินค้าเร็วขึ้น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4160520"/>
            <a:ext cx="3063240" cy="566928"/>
          </a:xfrm>
          <a:prstGeom prst="roundRect">
            <a:avLst/>
          </a:prstGeom>
          <a:solidFill>
            <a:srgbClr val="16304B"/>
          </a:solidFill>
          <a:ln w="12700">
            <a:solidFill>
              <a:srgbClr val="44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19" b="1">
                <a:solidFill>
                  <a:srgbClr val="E6F0FA"/>
                </a:solidFill>
                <a:latin typeface="Noto Sans Thai UI"/>
              </a:defRPr>
            </a:pPr>
            <a:r>
              <a:t>Better</a:t>
            </a:r>
          </a:p>
          <a:p>
            <a:pPr algn="ctr">
              <a:spcAft>
                <a:spcPts val="200"/>
              </a:spcAft>
              <a:defRPr sz="819" b="0">
                <a:solidFill>
                  <a:srgbClr val="E6F0FA"/>
                </a:solidFill>
                <a:latin typeface="Noto Sans Thai"/>
              </a:defRPr>
            </a:pPr>
            <a:r>
              <a:t>Planning | วางแผนดีขึ้น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83480"/>
            <a:ext cx="3063240" cy="566928"/>
          </a:xfrm>
          <a:prstGeom prst="roundRect">
            <a:avLst/>
          </a:prstGeom>
          <a:solidFill>
            <a:srgbClr val="16304B"/>
          </a:solidFill>
          <a:ln w="12700">
            <a:solidFill>
              <a:srgbClr val="44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19" b="1">
                <a:solidFill>
                  <a:srgbClr val="E6F0FA"/>
                </a:solidFill>
                <a:latin typeface="Noto Sans Thai UI"/>
              </a:defRPr>
            </a:pPr>
            <a:r>
              <a:t>Lower</a:t>
            </a:r>
          </a:p>
          <a:p>
            <a:pPr algn="ctr">
              <a:spcAft>
                <a:spcPts val="200"/>
              </a:spcAft>
              <a:defRPr sz="819" b="0">
                <a:solidFill>
                  <a:srgbClr val="E6F0FA"/>
                </a:solidFill>
                <a:latin typeface="Noto Sans Thai"/>
              </a:defRPr>
            </a:pPr>
            <a:r>
              <a:t>Cost | ต้นทุนต่ำลง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983480"/>
            <a:ext cx="3063240" cy="566928"/>
          </a:xfrm>
          <a:prstGeom prst="roundRect">
            <a:avLst/>
          </a:prstGeom>
          <a:solidFill>
            <a:srgbClr val="16304B"/>
          </a:solidFill>
          <a:ln w="12700">
            <a:solidFill>
              <a:srgbClr val="44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19" b="1">
                <a:solidFill>
                  <a:srgbClr val="E6F0FA"/>
                </a:solidFill>
                <a:latin typeface="Noto Sans Thai UI"/>
              </a:defRPr>
            </a:pPr>
            <a:r>
              <a:t>Improved</a:t>
            </a:r>
          </a:p>
          <a:p>
            <a:pPr algn="ctr">
              <a:spcAft>
                <a:spcPts val="200"/>
              </a:spcAft>
              <a:defRPr sz="819" b="0">
                <a:solidFill>
                  <a:srgbClr val="E6F0FA"/>
                </a:solidFill>
                <a:latin typeface="Noto Sans Thai"/>
              </a:defRPr>
            </a:pPr>
            <a:r>
              <a:t>Quality | คุณภาพดีขึ้น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19" y="4983480"/>
            <a:ext cx="3063240" cy="566928"/>
          </a:xfrm>
          <a:prstGeom prst="roundRect">
            <a:avLst/>
          </a:prstGeom>
          <a:solidFill>
            <a:srgbClr val="16304B"/>
          </a:solidFill>
          <a:ln w="12700">
            <a:solidFill>
              <a:srgbClr val="44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819" b="1">
                <a:solidFill>
                  <a:srgbClr val="E6F0FA"/>
                </a:solidFill>
                <a:latin typeface="Noto Sans Thai UI"/>
              </a:defRPr>
            </a:pPr>
            <a:r>
              <a:t>Higher Customer</a:t>
            </a:r>
          </a:p>
          <a:p>
            <a:pPr algn="ctr">
              <a:spcAft>
                <a:spcPts val="200"/>
              </a:spcAft>
              <a:defRPr sz="819" b="0">
                <a:solidFill>
                  <a:srgbClr val="E6F0FA"/>
                </a:solidFill>
                <a:latin typeface="Noto Sans Thai"/>
              </a:defRPr>
            </a:pPr>
            <a:r>
              <a:t>Responsiveness | ตอบสนองลูกค้าเร็วขึ้น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274320"/>
            <a:ext cx="2011680" cy="20116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4892040"/>
            <a:ext cx="1554480" cy="1554480"/>
          </a:xfrm>
          <a:prstGeom prst="ellipse">
            <a:avLst/>
          </a:prstGeom>
          <a:solidFill>
            <a:srgbClr val="05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 flipV="1">
            <a:off x="914400" y="3291840"/>
            <a:ext cx="5029200" cy="169164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6217920" y="3200400"/>
            <a:ext cx="3840480" cy="178308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286000" y="3291840"/>
            <a:ext cx="3657600" cy="169164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6217920" y="3200400"/>
            <a:ext cx="2468880" cy="178308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657600" y="3291840"/>
            <a:ext cx="2286000" cy="169164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6217920" y="3200400"/>
            <a:ext cx="1097280" cy="178308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029200" y="3291840"/>
            <a:ext cx="914400" cy="169164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943600" y="3200400"/>
            <a:ext cx="274320" cy="178308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5943600" y="3291840"/>
            <a:ext cx="457200" cy="169164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572000" y="3200400"/>
            <a:ext cx="1645920" cy="178308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943600" y="3291840"/>
            <a:ext cx="1828800" cy="169164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200400" y="3200400"/>
            <a:ext cx="3017520" cy="178308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5943600" y="3291840"/>
            <a:ext cx="3200400" cy="169164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28800" y="3200400"/>
            <a:ext cx="4389120" cy="178308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5943600" y="3291840"/>
            <a:ext cx="4572000" cy="169164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57200" y="3200400"/>
            <a:ext cx="5760720" cy="1783080"/>
          </a:xfrm>
          <a:prstGeom prst="line">
            <a:avLst/>
          </a:prstGeom>
          <a:ln w="10160">
            <a:solidFill>
              <a:srgbClr val="00B8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715000" y="2514600"/>
            <a:ext cx="1051560" cy="1051560"/>
          </a:xfrm>
          <a:prstGeom prst="ellipse">
            <a:avLst/>
          </a:prstGeom>
          <a:solidFill>
            <a:srgbClr val="00569B"/>
          </a:solidFill>
          <a:ln w="12700">
            <a:solidFill>
              <a:srgbClr val="00B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800" b="1">
                <a:solidFill>
                  <a:srgbClr val="FFFFFF"/>
                </a:solidFill>
                <a:latin typeface="Noto Sans Thai UI"/>
              </a:defRPr>
            </a:pPr>
            <a: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005840"/>
            <a:ext cx="103327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3100" b="1">
                <a:solidFill>
                  <a:srgbClr val="FFFFFF"/>
                </a:solidFill>
                <a:latin typeface="Noto Sans Thai UI"/>
              </a:defRPr>
            </a:pPr>
            <a:r>
              <a:t>TRT Compound AI Transformation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90982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00B8E0"/>
                </a:solidFill>
                <a:latin typeface="Noto Sans Thai UI"/>
              </a:defRPr>
            </a:pPr>
            <a:r>
              <a:t>Transform Data into Knowledge</a:t>
            </a:r>
          </a:p>
          <a:p>
            <a:pPr algn="ctr">
              <a:spcAft>
                <a:spcPts val="200"/>
              </a:spcAft>
              <a:defRPr sz="2400" b="1">
                <a:solidFill>
                  <a:srgbClr val="00B8E0"/>
                </a:solidFill>
                <a:latin typeface="Noto Sans Thai UI"/>
              </a:defRPr>
            </a:pPr>
            <a:r>
              <a:t>Transform Knowledge into Competitive Advantage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25780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FFFFFF"/>
                </a:solidFill>
                <a:latin typeface="Noto Sans Thai UI"/>
              </a:defRPr>
            </a:pPr>
            <a: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TRT Compound AI Transformation 2026–2028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DB0C4"/>
                </a:solidFill>
                <a:latin typeface="Noto Sans Tha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1226</Words>
  <Application>Microsoft Office PowerPoint</Application>
  <PresentationFormat>Widescreen</PresentationFormat>
  <Paragraphs>365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Akorn Winothai</cp:lastModifiedBy>
  <cp:revision>6</cp:revision>
  <dcterms:created xsi:type="dcterms:W3CDTF">2013-01-27T09:14:16Z</dcterms:created>
  <dcterms:modified xsi:type="dcterms:W3CDTF">2026-06-24T03:26:22Z</dcterms:modified>
  <cp:category/>
</cp:coreProperties>
</file>